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</a:rPr>
              <a:t>Model-Based Systems Engineering Pipeline</a:t>
            </a:r>
          </a:p>
          <a:p>
            <a:pPr algn="ctr">
              <a:spcAft>
                <a:spcPts val="1600"/>
              </a:spcAft>
            </a:pPr>
            <a:r>
              <a:rPr sz="1600" b="0">
                <a:solidFill>
                  <a:srgbClr val="AAAAAA"/>
                </a:solidFill>
              </a:rPr>
              <a:t>From Requirements to Deployed Product — Automated, Traceable, Auditable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0099D6"/>
                </a:solidFill>
              </a:rPr>
              <a:t>Executive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D1B2A"/>
                </a:solidFill>
              </a:rPr>
              <a:t>Built for Program Velocity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The Structural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Shared Language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SEs work in the model, developers work in code. Without a bridge, intent gets lost in translation at every handoff.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Reliable Handoff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Artifacts shared over email or SharePoint have no version control, no change awareness, and no enforcement.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Connected Toolchain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Requirements, tests, and deployment are maintained in separate tools with no automated thread between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03520" cy="36576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Why the Old Approach Falls Short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Requirements are living targets — this program moves faster than any manual process can track.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SE/SW misalignment surfaces at integration — the most expensive point to find it.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Audit evidence reconstructed from scratch each review cycle — unsustainable at this pace.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Requirement changes silently invalidate tests — no alert, no flag, no enforcement.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03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D1B2A"/>
                </a:solidFill>
              </a:rPr>
              <a:t>This program moves too fast for manual traceability. The pipeline keeps pace.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The Solution: Two Pipelines,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A single automated thread connects the Cameo model to the deployed product — with quality gates enforcing traceability at every stage.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11247120" cy="16459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99D6"/>
                </a:solidFill>
              </a:rPr>
              <a:t>MODEL PIPELINE  •  cameo-model-pipeline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888888"/>
                </a:solidFill>
              </a:rPr>
              <a:t>Owned by Systems Engineers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103120" cy="73152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Cameo Model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Author requirements
&amp; ICD in the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2194560"/>
            <a:ext cx="210312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Export &amp; Validate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Schema validation
of JSON exports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2194560"/>
            <a:ext cx="210312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Package &amp; Version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Semantic versioning
&amp; artifact assembly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2194560"/>
            <a:ext cx="210312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Publish 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Versioned ZIP to
GitHub Releases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303520" y="3246120"/>
            <a:ext cx="457200" cy="457200"/>
          </a:xfrm>
          <a:prstGeom prst="downArrow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32644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99D6"/>
                </a:solidFill>
              </a:rPr>
              <a:t>Versioned 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888888"/>
                </a:solidFill>
              </a:rPr>
              <a:t>requirements.json + proto files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94760"/>
            <a:ext cx="11247120" cy="16459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6791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99D6"/>
                </a:solidFill>
              </a:rPr>
              <a:t>PRODUCT PIPELINE  •  product-pipeline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888888"/>
                </a:solidFill>
              </a:rPr>
              <a:t>Owned by Developers + Systems Engineers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34840"/>
            <a:ext cx="2103120" cy="73152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Fetch Model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Download versioned
artifact from release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0360" y="4434840"/>
            <a:ext cx="210312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7180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Quality Gates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Coverage, drift &amp;
orphan detection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4434840"/>
            <a:ext cx="210312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BDD Verification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Automated Gherkin
log-analysis tests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4434840"/>
            <a:ext cx="210312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Deploy + 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Helm deploy with
evidence bundle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532120"/>
            <a:ext cx="11247120" cy="41148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58698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Every requirement is automatically traced from model to test to deployment. No manual assembly. No gaps. No drift.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3657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>
                <a:solidFill>
                  <a:srgbClr val="888888"/>
                </a:solidFill>
              </a:rPr>
              <a:t>Cameo • Python • Behave • Gherkin • Helm • GitHub Actions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Release Planning &amp; Program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Requirements are delivered incrementally across releases. The pipeline tracks what’s in scope, what’s deferred, and what’s shipped.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2103120" cy="4114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Core ICD &amp;
Health Monitoring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97480" y="1645920"/>
            <a:ext cx="2103120" cy="4114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SHIPPED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Error Handling &amp;
Message Validation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37760" y="1645920"/>
            <a:ext cx="2103120" cy="4114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1.2.0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69B0"/>
                </a:solidFill>
              </a:rPr>
              <a:t>CURRENT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Degradation &amp;
Configuration Mgmt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7804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78040" y="1645920"/>
            <a:ext cx="2103120" cy="4114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8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2.0.0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88888"/>
                </a:solidFill>
              </a:rPr>
              <a:t>PLANNED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Resilience, Self-Test
&amp; Data Logging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645920"/>
            <a:ext cx="2103120" cy="4114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2.1.0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88888"/>
                </a:solidFill>
              </a:rPr>
              <a:t>PLANNED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Firmware Update &amp;
Network Tolerance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release-plan.json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single file maps requirements to release versions. Checked into Git alongside the code.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Cumulative Scope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Each release includes all prior releases. Release 1.2.0 enforces everything from 1.0.0 + 1.1.0 + 1.2.0.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Deferred VCs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Out-of-scope verification criteria appear as “deferred” — visible but not blocking the current release.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Program Visibility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Readiness Ring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At-a-glance percentage showing how many VCs are passing for the selected release.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Filter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global dropdown scopes the entire dashboard to any release — past, current, or future.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Progress Tab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Full roadmap with per-release progress bars, target dates, and clickable VC details.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35040"/>
            <a:ext cx="11247120" cy="4114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08990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D1B2A"/>
                </a:solidFill>
              </a:rPr>
              <a:t>One dashboard shows the full program — what shipped, what’s in progress, and what’s planned. Updated on every build.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Where This Fits: Layered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The MBSE pipeline automates E2E testing — deploying the product, running simulations, and verifying requirements through log analysis.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4937760"/>
            <a:ext cx="502920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Static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114800"/>
            <a:ext cx="429768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Unit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3291840"/>
            <a:ext cx="356616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38328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Integration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2468880"/>
            <a:ext cx="2834640" cy="685800"/>
          </a:xfrm>
          <a:prstGeom prst="roundRect">
            <a:avLst/>
          </a:prstGeom>
          <a:solidFill>
            <a:srgbClr val="0069B0"/>
          </a:solidFill>
          <a:ln w="31750">
            <a:solidFill>
              <a:srgbClr val="009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256032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E2E Tests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1645920"/>
            <a:ext cx="210312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173736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Manual &amp;
Exploratory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" y="1554480"/>
            <a:ext cx="365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888888"/>
                </a:solidFill>
              </a:rPr>
              <a:t>Cost 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56692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88888"/>
                </a:solidFill>
              </a:rPr>
              <a:t>Speed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560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69B0"/>
                </a:solidFill>
              </a:rPr>
              <a:t>◀ MBSE 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371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the Pipeline Provides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8288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Requirement Traceability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Every Cameo requirement maps to a Gherkin scenario. Gate A enforces 100% coverage.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542032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Automated E2E Verification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BDD scenarios run against simulation logs after product deployment. Results captured automatically.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255264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Drift Detection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detects when the model changes and flags tests for review — no silent invalidation.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968496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Evidence Generation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The Deployment Pipeline Report is produced on every build — a complete audit trail.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68172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Release-Aware Gating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Quality gates only enforce VCs in scope for the current release. Future work is tracked but not blocking.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035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Static analysis, unit, and integration tests are owned by developers. The MBSE pipeline automates the E2E layer with full requirement traceability.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Three Quality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Automated checks that run on every commit — the pipeline will not proceed until all gates pass.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566160" cy="45720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A: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every verification criteria has at least one Gherkin scenario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Generates stub feature files for uncovered VCs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Prevents requirements from reaching deployment without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39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39" y="1554480"/>
            <a:ext cx="3566160" cy="45720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399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B: Drift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19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Detects when requirement criteria text changes in the model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Compares SHA-256 hash of criteria against baseline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Injects @REVIEW_REQUIRED tag — forces developer to review &amp; acknowledge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8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55278" y="1554480"/>
            <a:ext cx="3566160" cy="45720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38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C: Orphan Detection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8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Finds test scenarios referencing non-existent requirements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Catches orphaned @REQ: and @VC: tags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test suite stays in sync with the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Collaborative Test Authoring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SEs and Developers co-author Gherkin specifications — SEs define WHAT to verify, developers implement HOW.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30352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5303520" cy="6400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</a:rPr>
              <a:t>Systems Engineers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BBBBBB"/>
                </a:solidFill>
              </a:rPr>
              <a:t>Own the WHAT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Author requirements &amp; verification criteria in Cameo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Co-author Gherkin Features &amp; Scenarios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Write Given / When / Then specifications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 scenarios satisfy the intent of each VC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30352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0" y="1554480"/>
            <a:ext cx="5303520" cy="6400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2763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</a:rPr>
              <a:t>Software Developers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BBBBBB"/>
                </a:solidFill>
              </a:rPr>
              <a:t>Own the HOW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37744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Implement step definitions (Python code behind steps)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Build log-analysis assertions against system output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Maintain BDD test infrastructure &amp; helpers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Write product application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8521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0099D6"/>
                </a:solidFill>
              </a:rPr>
              <a:t>JOINTLY OWNED  —  Systems Engineers + Software Developers co-author Gherkin (.feature)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</a:rPr>
              <a:t>Gherkin Specification &amp; Tag Convention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AAAAAA"/>
                </a:solidFill>
              </a:rPr>
              <a:t>Tags create the machine-readable traceability link between requirements and test scenarios.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943600" cy="4114800"/>
          </a:xfrm>
          <a:prstGeom prst="roundRect">
            <a:avLst/>
          </a:prstGeom>
          <a:solidFill>
            <a:srgbClr val="142538"/>
          </a:solidFill>
          <a:ln w="12700">
            <a:solidFill>
              <a:srgbClr val="2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577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</a:rPr>
              <a:t>Feature: Basic ICD Communications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  @VC:SYS-REQ-001-VC-01 @VER:Test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 Scenario: Valid ICD produces correct response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Given the simulation logs are loaded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Then the product logs should contain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     "Received IcdRequest: test-001"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5544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Tag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requirement ID. Placed at Feature level.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56032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@VC:...-VC-01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specific VC. Placed at Scenario level.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310896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@VER:Test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Verification criteria type (INCOSE ADIT classification).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6576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@REVIEW_REQUIRED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Gate B when criteria text drifts.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420624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@STUB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Auto-generated placeholder. Replaced by real scenario.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7548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@DEFERRED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pipeline when VC is scoped to a future release.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CI/CD Pipeline Stages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1: Model Pipeline (on every push)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Validate
Exports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9748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Schema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Generate
Protos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Package
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Tag &amp;
Release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26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2: Product Pipeline (on every push)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383280"/>
            <a:ext cx="173736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Traceability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03120" y="3383280"/>
            <a:ext cx="173736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A
Coverage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3383280"/>
            <a:ext cx="173736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B
Drift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3383280"/>
            <a:ext cx="173736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C
Orphans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Execution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183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 +
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7548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Technology Stack:  GitHub Actions • JSON Schema • Python • Behave • Gherkin • Helm • Kubernetes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Cyber: Supply Chain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Every container image is scanned for known vulnerabilities before deployment. A full Software Bill of Materials is generated on every build.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Automated Scanning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303520" cy="50292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Container Image</a:t>
            </a:r>
            <a:r>
              <a:rPr sz="800" b="0">
                <a:solidFill>
                  <a:srgbClr val="BBBBBB"/>
                </a:solidFill>
              </a:rPr>
              <a:t>  —  Product containers built by CI/CD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95728"/>
            <a:ext cx="5303520" cy="5029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44144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Syft → SBOM</a:t>
            </a:r>
            <a:r>
              <a:rPr sz="800" b="0">
                <a:solidFill>
                  <a:srgbClr val="BBBBBB"/>
                </a:solidFill>
              </a:rPr>
              <a:t>  —  Generates CycloneDX Software Bill of Materials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962656"/>
            <a:ext cx="5303520" cy="5029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08376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Grype → Scan</a:t>
            </a:r>
            <a:r>
              <a:rPr sz="800" b="0">
                <a:solidFill>
                  <a:srgbClr val="BBBBBB"/>
                </a:solidFill>
              </a:rPr>
              <a:t>  —  Scans SBOM against known vulnerability databases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29584"/>
            <a:ext cx="5303520" cy="5029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575304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Policy Gate</a:t>
            </a:r>
            <a:r>
              <a:rPr sz="800" b="0">
                <a:solidFill>
                  <a:srgbClr val="BBBBBB"/>
                </a:solidFill>
              </a:rPr>
              <a:t>  —  PASS / WARNING / FAIL based on severity thresholds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062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What Gets Produced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72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SBOM (CycloneDX)</a:t>
            </a:r>
            <a:r>
              <a:rPr sz="900" b="0">
                <a:solidFill>
                  <a:srgbClr val="555555"/>
                </a:solidFill>
              </a:rPr>
              <a:t>  —  Complete component inventory with versions and sources.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Vulnerability Report</a:t>
            </a:r>
            <a:r>
              <a:rPr sz="900" b="0">
                <a:solidFill>
                  <a:srgbClr val="555555"/>
                </a:solidFill>
              </a:rPr>
              <a:t>  —  CVE-level findings with severity and fix availability.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669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Policy Verdict</a:t>
            </a:r>
            <a:r>
              <a:rPr sz="900" b="0">
                <a:solidFill>
                  <a:srgbClr val="555555"/>
                </a:solidFill>
              </a:rPr>
              <a:t>  —  Blocks deployment on Critical/High findings.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6144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Severity Dashboard</a:t>
            </a:r>
            <a:r>
              <a:rPr sz="900" b="0">
                <a:solidFill>
                  <a:srgbClr val="555555"/>
                </a:solidFill>
              </a:rPr>
              <a:t>  —  Visual breakdown in the Deployment Pipeline Report.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5087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Why This Matters for Compliance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659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Executive Order 14028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Federal mandate requiring SBOMs for all software sold to the government.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0604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NIST SP 800-218 (SSDF)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Requires vulnerability scanning and remediation tracking per build.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24612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Supply Chain Transparency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Every component inventoried with name, version, type, and package URL.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8862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Audit-Ready Evidence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SBOM + scan results included in evidence bundle. No manual assembly.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52628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Air-Gapped Compatible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Grype DB mirrored internally. Syft runs against local images. No internet.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6126480"/>
            <a:ext cx="11247120" cy="365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1722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D1B2A"/>
                </a:solidFill>
              </a:rPr>
              <a:t>Every build produces a complete SBOM and vulnerability scan — no manual steps, no gaps, always current.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Traceability &amp; Audit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Every pipeline run produces a complete, machine-generated evidence chain — no manual assembly required.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011680" cy="77724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Requirement
in Cameo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554480"/>
            <a:ext cx="2011680" cy="77724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Verification
Criteria (VC)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554480"/>
            <a:ext cx="2011680" cy="77724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Gherkin
Scenario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1554480"/>
            <a:ext cx="2011680" cy="77724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Result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554480"/>
            <a:ext cx="2011680" cy="777240"/>
          </a:xfrm>
          <a:prstGeom prst="roundRect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Deployment
Pipeline 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43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This Means for Compliance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Minutes, Not Weeks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Traceability report is generated on every commit — always current, always complete.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Every Change Tracked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Git history + baseline diffs show exactly when requirements changed and who acknowledged them.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Missing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A ensures every verification criteria has coverage — gaps are caught before merge.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Stale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detects criteria drift — existing tests are flagged for re-review when requirements change.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Ghost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C catches orphaned tests — scenarios for deleted requirements are flagged for removal.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Immutable Evidence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CI artifacts (HTML + JSON reports) are stored per build — reproducible audit trail.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</a:rP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Reduce Risk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Every requirement is verified before deployment. No gaps, no surprises. Quality gates catch problems early.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59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Accelerate Delivery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Automated traceability eliminates weeks of manual evidence assembly. CI/CD runs on every commit.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Ensure Compliance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Machine-generated audit trail from model to deployment. Immutable, reproducible, always current.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One pipeline.  Model to deployment.  Full traceability.  Every commit.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5394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0099D6"/>
                </a:solidFill>
              </a:rPr>
              <a:t>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