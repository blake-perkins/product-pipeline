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4" r:id="rId15"/>
    <p:sldId id="265" r:id="rId16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1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Model-Based Systems Engineering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ECF0F1"/>
                </a:solidFill>
                <a:latin typeface="Calibri"/>
              </a:defRPr>
            </a:pPr>
            <a:r>
              <a:t>From Requirements to Deployed Product — Automated, Traceable, Auditable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931920"/>
            <a:ext cx="457200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46E7A"/>
                </a:solidFill>
                <a:latin typeface="Calibri"/>
              </a:defRPr>
            </a:pPr>
            <a:r>
              <a:t>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Built for Program Velocity</a:t>
            </a:r>
          </a:p>
          <a:p>
            <a:pPr>
              <a:spcAft>
                <a:spcPts val="400"/>
              </a:spcAft>
            </a:pP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The Structural Gaps</a:t>
            </a:r>
          </a:p>
          <a:p>
            <a:pPr>
              <a:spcAft>
                <a:spcPts val="200"/>
              </a:spcAft>
            </a:pPr>
          </a:p>
          <a:p>
            <a:r>
              <a:rPr sz="1400" b="1">
                <a:solidFill>
                  <a:srgbClr val="0099D6"/>
                </a:solidFill>
              </a:rPr>
              <a:t>No Shared Language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</a:defRPr>
            </a:pPr>
            <a:r>
              <a:t>SEs work in the model, developers work in code. Without a bridge, intent gets lost in translation at every handoff.</a:t>
            </a:r>
          </a:p>
          <a:p>
            <a:r>
              <a:rPr sz="1400" b="1">
                <a:solidFill>
                  <a:srgbClr val="0099D6"/>
                </a:solidFill>
              </a:rPr>
              <a:t>No Reliable Handoff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</a:defRPr>
            </a:pPr>
            <a:r>
              <a:t>Artifacts shared over email or SharePoint have no version control, no change awareness, and no enforcement.</a:t>
            </a:r>
          </a:p>
          <a:p>
            <a:r>
              <a:rPr sz="1400" b="1">
                <a:solidFill>
                  <a:srgbClr val="0099D6"/>
                </a:solidFill>
              </a:rPr>
              <a:t>No Connected Toolchain</a:t>
            </a:r>
          </a:p>
          <a:p>
            <a:pPr>
              <a:spcAft>
                <a:spcPts val="1200"/>
              </a:spcAft>
              <a:defRPr sz="1100">
                <a:solidFill>
                  <a:srgbClr val="CCCCCC"/>
                </a:solidFill>
              </a:defRPr>
            </a:pPr>
            <a:r>
              <a:t>Requirements, tests, and deployment are maintained in separate tools with no automated thread between them.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Why the Old Approach Falls Short</a:t>
            </a:r>
          </a:p>
          <a:p>
            <a:pPr>
              <a:spcAft>
                <a:spcPts val="400"/>
              </a:spcAft>
              <a:defRPr sz="1100">
                <a:solidFill>
                  <a:srgbClr val="CCCCCC"/>
                </a:solidFill>
              </a:defRPr>
            </a:pPr>
            <a:r>
              <a:t>•  Requirements are living targets — this program moves faster than any manual process can track.</a:t>
            </a:r>
          </a:p>
          <a:p>
            <a:pPr>
              <a:spcAft>
                <a:spcPts val="400"/>
              </a:spcAft>
              <a:defRPr sz="1100">
                <a:solidFill>
                  <a:srgbClr val="CCCCCC"/>
                </a:solidFill>
              </a:defRPr>
            </a:pPr>
            <a:r>
              <a:t>•  SE/SW misalignment surfaces at integration — the most expensive point to find it.</a:t>
            </a:r>
          </a:p>
          <a:p>
            <a:pPr>
              <a:spcAft>
                <a:spcPts val="400"/>
              </a:spcAft>
              <a:defRPr sz="1100">
                <a:solidFill>
                  <a:srgbClr val="CCCCCC"/>
                </a:solidFill>
              </a:defRPr>
            </a:pPr>
            <a:r>
              <a:t>•  Audit evidence reconstructed from scratch each review cycle — unsustainable at this pace.</a:t>
            </a:r>
          </a:p>
          <a:p>
            <a:pPr>
              <a:spcAft>
                <a:spcPts val="400"/>
              </a:spcAft>
              <a:defRPr sz="1100">
                <a:solidFill>
                  <a:srgbClr val="CCCCCC"/>
                </a:solidFill>
              </a:defRPr>
            </a:pPr>
            <a:r>
              <a:t>•  Requirement changes silently invalidate tests — no alert, no flag, no enforcement.</a:t>
            </a:r>
          </a:p>
          <a:p>
            <a:pPr>
              <a:spcAft>
                <a:spcPts val="800"/>
              </a:spcAft>
            </a:pPr>
          </a:p>
          <a:p>
            <a:r>
              <a:rPr sz="1300" b="1">
                <a:solidFill>
                  <a:srgbClr val="FFFFFF"/>
                </a:solidFill>
              </a:rPr>
              <a:t>This program demands a better approach. That’s what this pipeline delivers.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3924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7" name="Oval 6"/>
          <p:cNvSpPr/>
          <p:nvPr/>
        </p:nvSpPr>
        <p:spPr>
          <a:xfrm>
            <a:off x="822960" y="249936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5948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1960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43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663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37972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623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463040"/>
            <a:ext cx="4846320" cy="4389120"/>
          </a:xfrm>
          <a:prstGeom prst="roundRect">
            <a:avLst>
              <a:gd name="adj" fmla="val 5000"/>
            </a:avLst>
          </a:prstGeom>
          <a:solidFill>
            <a:srgbClr val="FA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173736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/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22" name="Oval 21"/>
          <p:cNvSpPr/>
          <p:nvPr/>
        </p:nvSpPr>
        <p:spPr>
          <a:xfrm>
            <a:off x="129067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Solution: End-to-End MBSE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 fully automated pipeline that transforms model-based requirements into verified, deployable software — with traceability at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Cameo Systems</a:t>
            </a:r>
            <a:br/>
            <a:r>
              <a:t>Modeler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Author requirements</a:t>
            </a:r>
            <a:br/>
            <a:r>
              <a:t>&amp; ICD in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Validate exports</a:t>
            </a:r>
            <a:br/>
            <a:r>
              <a:t>against JSON schemas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Artifact</a:t>
            </a:r>
            <a:br/>
            <a:r>
              <a:t>Packaging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Version, package</a:t>
            </a:r>
            <a:br/>
            <a:r>
              <a:t>&amp; release to Nexus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Coverage, drift &amp;</a:t>
            </a:r>
            <a:br/>
            <a:r>
              <a:t>orphan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BDD</a:t>
            </a:r>
            <a:br/>
            <a:r>
              <a:t>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Automated Gherkin</a:t>
            </a:r>
            <a:br/>
            <a:r>
              <a:t>log-analysis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Helm chart deploy</a:t>
            </a:r>
            <a:br/>
            <a:r>
              <a:t>with evidence bundle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403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95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788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98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5020000"/>
            <a:ext cx="9144000" cy="1768320"/>
          </a:xfrm>
          <a:prstGeom prst="roundRect">
            <a:avLst>
              <a:gd name="adj" fmla="val 8000"/>
            </a:avLst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5111440"/>
            <a:ext cx="859536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D1B2A"/>
                </a:solidFill>
                <a:latin typeface="Calibri"/>
              </a:defRPr>
            </a:pPr>
            <a:r>
              <a:t xml:space="preserve">Key Principle:  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Every requirement in the Cameo model is automatically traced through verification criterias, test scenarios, and test results — producing a complete, machine-generated evidence chain from model to deployment.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9" name="Oval 28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700" name="RepoBar 700"/>
          <p:cNvSpPr/>
          <p:nvPr/>
        </p:nvSpPr>
        <p:spPr>
          <a:xfrm>
            <a:off x="457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MODEL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cameo-model-pipeline</a:t>
            </a:r>
          </a:p>
        </p:txBody>
      </p:sp>
      <p:sp>
        <p:nvSpPr>
          <p:cNvPr id="701" name="RepoBar 701"/>
          <p:cNvSpPr/>
          <p:nvPr/>
        </p:nvSpPr>
        <p:spPr>
          <a:xfrm>
            <a:off x="6232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PRODUCT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product-pipeline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Integrated MBSE Pipeline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69B0"/>
                </a:solidFill>
                <a:latin typeface="Calibri"/>
              </a:defRPr>
            </a:pPr>
            <a:r>
              <a:t>Repo 1: cameo-model-pipeline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Cameo model drives requirements and ICD exports. Artifacts are schema-validated, proto-generated, packaged, and published via GitHub Releases.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99D6"/>
                </a:solidFill>
                <a:latin typeface="Calibri"/>
              </a:defRPr>
            </a:pPr>
            <a:r>
              <a:t>Repo 2: product-pipeline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Developers + Systems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Consumes versioned model artifacts. Quality gates enforce coverage, drift, and orphan checks before BDD log-analysis tests execute and Helm deploys.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60720" y="3474720"/>
            <a:ext cx="640080" cy="548640"/>
          </a:xfrm>
          <a:prstGeom prst="right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4114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D1B2A"/>
                </a:solidFill>
                <a:latin typeface="Calibri"/>
              </a:defRPr>
            </a:pPr>
            <a:r>
              <a:t>Versioned</a:t>
            </a:r>
            <a:br/>
            <a:r>
              <a:t>Artifact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7" name="Oval 16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200" name="Label 200"/>
          <p:cNvSpPr txBox="1"/>
          <p:nvPr/>
        </p:nvSpPr>
        <p:spPr>
          <a:xfrm>
            <a:off x="9315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01" name="Badge 201"/>
          <p:cNvSpPr/>
          <p:nvPr/>
        </p:nvSpPr>
        <p:spPr>
          <a:xfrm>
            <a:off x="9315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202" name="Badge 202"/>
          <p:cNvSpPr/>
          <p:nvPr/>
        </p:nvSpPr>
        <p:spPr>
          <a:xfrm>
            <a:off x="32089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Groovy</a:t>
            </a:r>
          </a:p>
        </p:txBody>
      </p:sp>
      <p:sp>
        <p:nvSpPr>
          <p:cNvPr id="203" name="Badge 203"/>
          <p:cNvSpPr/>
          <p:nvPr/>
        </p:nvSpPr>
        <p:spPr>
          <a:xfrm>
            <a:off x="9315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204" name="Badge 204"/>
          <p:cNvSpPr/>
          <p:nvPr/>
        </p:nvSpPr>
        <p:spPr>
          <a:xfrm>
            <a:off x="32089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Protocol Buffers</a:t>
            </a:r>
          </a:p>
        </p:txBody>
      </p:sp>
      <p:sp>
        <p:nvSpPr>
          <p:cNvPr id="205" name="Badge 205"/>
          <p:cNvSpPr/>
          <p:nvPr/>
        </p:nvSpPr>
        <p:spPr>
          <a:xfrm>
            <a:off x="9315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Releases</a:t>
            </a:r>
          </a:p>
        </p:txBody>
      </p:sp>
      <p:sp>
        <p:nvSpPr>
          <p:cNvPr id="206" name="Badge 206"/>
          <p:cNvSpPr/>
          <p:nvPr/>
        </p:nvSpPr>
        <p:spPr>
          <a:xfrm>
            <a:off x="32089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210" name="Label 210"/>
          <p:cNvSpPr txBox="1"/>
          <p:nvPr/>
        </p:nvSpPr>
        <p:spPr>
          <a:xfrm>
            <a:off x="68751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11" name="Badge 211"/>
          <p:cNvSpPr/>
          <p:nvPr/>
        </p:nvSpPr>
        <p:spPr>
          <a:xfrm>
            <a:off x="68751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12" name="Badge 212"/>
          <p:cNvSpPr/>
          <p:nvPr/>
        </p:nvSpPr>
        <p:spPr>
          <a:xfrm>
            <a:off x="91525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213" name="Badge 213"/>
          <p:cNvSpPr/>
          <p:nvPr/>
        </p:nvSpPr>
        <p:spPr>
          <a:xfrm>
            <a:off x="68751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214" name="Badge 214"/>
          <p:cNvSpPr/>
          <p:nvPr/>
        </p:nvSpPr>
        <p:spPr>
          <a:xfrm>
            <a:off x="91525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215" name="Badge 215"/>
          <p:cNvSpPr/>
          <p:nvPr/>
        </p:nvSpPr>
        <p:spPr>
          <a:xfrm>
            <a:off x="68751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216" name="Badge 216"/>
          <p:cNvSpPr/>
          <p:nvPr/>
        </p:nvSpPr>
        <p:spPr>
          <a:xfrm>
            <a:off x="91525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Three Quality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Automated checks that run on every commit — the pipeline will not proceed until all gates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A: Coverage Check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2260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every verification criteria has at least one Gherkin scenario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79984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Generates stub feature files for uncovered VCs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57708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Advisory: stubs signal work needed, pipeline continues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35432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Prevents requirements from reaching deployment without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B: Drift Detection</a:t>
            </a:r>
          </a:p>
        </p:txBody>
      </p:sp>
      <p:sp>
        <p:nvSpPr>
          <p:cNvPr id="17" name="Oval 16"/>
          <p:cNvSpPr/>
          <p:nvPr/>
        </p:nvSpPr>
        <p:spPr>
          <a:xfrm>
            <a:off x="4526280" y="302260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Detects when requirement criteria text changes</a:t>
            </a:r>
          </a:p>
        </p:txBody>
      </p:sp>
      <p:sp>
        <p:nvSpPr>
          <p:cNvPr id="19" name="Oval 18"/>
          <p:cNvSpPr/>
          <p:nvPr/>
        </p:nvSpPr>
        <p:spPr>
          <a:xfrm>
            <a:off x="4526280" y="379984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Compares SHA-256 hash of criteria against baseline</a:t>
            </a:r>
          </a:p>
        </p:txBody>
      </p:sp>
      <p:sp>
        <p:nvSpPr>
          <p:cNvPr id="21" name="Oval 20"/>
          <p:cNvSpPr/>
          <p:nvPr/>
        </p:nvSpPr>
        <p:spPr>
          <a:xfrm>
            <a:off x="4526280" y="457708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Injects @REVIEW_REQUIRED tag into affected features</a:t>
            </a:r>
          </a:p>
        </p:txBody>
      </p:sp>
      <p:sp>
        <p:nvSpPr>
          <p:cNvPr id="23" name="Oval 22"/>
          <p:cNvSpPr/>
          <p:nvPr/>
        </p:nvSpPr>
        <p:spPr>
          <a:xfrm>
            <a:off x="4526280" y="535432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forces developer to review &amp; acknowledge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4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8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C: Orphan Detection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8321040" y="302260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Finds test scenarios referencing non-existent requirements</a:t>
            </a:r>
          </a:p>
        </p:txBody>
      </p:sp>
      <p:sp>
        <p:nvSpPr>
          <p:cNvPr id="29" name="Oval 28"/>
          <p:cNvSpPr/>
          <p:nvPr/>
        </p:nvSpPr>
        <p:spPr>
          <a:xfrm>
            <a:off x="8321040" y="379984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Catches both orphaned @REQ: and @VC: tags</a:t>
            </a:r>
          </a:p>
        </p:txBody>
      </p:sp>
      <p:sp>
        <p:nvSpPr>
          <p:cNvPr id="31" name="Oval 30"/>
          <p:cNvSpPr/>
          <p:nvPr/>
        </p:nvSpPr>
        <p:spPr>
          <a:xfrm>
            <a:off x="8321040" y="457708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prevents tests for deleted requirements</a:t>
            </a:r>
          </a:p>
        </p:txBody>
      </p:sp>
      <p:sp>
        <p:nvSpPr>
          <p:cNvPr id="33" name="Oval 32"/>
          <p:cNvSpPr/>
          <p:nvPr/>
        </p:nvSpPr>
        <p:spPr>
          <a:xfrm>
            <a:off x="8321040" y="535432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test suite stays in sync with the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Oval 39"/>
          <p:cNvSpPr/>
          <p:nvPr/>
        </p:nvSpPr>
        <p:spPr>
          <a:xfrm>
            <a:off x="4454499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Collaborative Test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SEs and Developers co-author Gherkin specifications — SEs define WHAT to verify, developers implement HOW.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029200" cy="466832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WHAT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7246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Author requirements &amp; verification criterias in Cameo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67538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Co-author Gherkin Features &amp; Scenarios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7830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Given / When / Then specifications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68122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Ensure scenarios satisfy the intent of each VM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11680"/>
            <a:ext cx="5029200" cy="466832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Software Developers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HOW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17246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Implement step definitions (Python code behind steps)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367538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Build log-analysis assertions against system output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417830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Maintain BDD test infrastructure &amp; helpers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8122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product application code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2" name="Oval 41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300" name="Label 300"/>
          <p:cNvSpPr txBox="1"/>
          <p:nvPr/>
        </p:nvSpPr>
        <p:spPr>
          <a:xfrm>
            <a:off x="1031520" y="537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01" name="Badge 301"/>
          <p:cNvSpPr/>
          <p:nvPr/>
        </p:nvSpPr>
        <p:spPr>
          <a:xfrm>
            <a:off x="10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302" name="Badge 302"/>
          <p:cNvSpPr/>
          <p:nvPr/>
        </p:nvSpPr>
        <p:spPr>
          <a:xfrm>
            <a:off x="33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 (.feature)</a:t>
            </a:r>
          </a:p>
        </p:txBody>
      </p:sp>
      <p:sp>
        <p:nvSpPr>
          <p:cNvPr id="310" name="Label 310"/>
          <p:cNvSpPr txBox="1"/>
          <p:nvPr/>
        </p:nvSpPr>
        <p:spPr>
          <a:xfrm>
            <a:off x="6975120" y="499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11" name="Badge 311"/>
          <p:cNvSpPr/>
          <p:nvPr/>
        </p:nvSpPr>
        <p:spPr>
          <a:xfrm>
            <a:off x="69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312" name="Badge 312"/>
          <p:cNvSpPr/>
          <p:nvPr/>
        </p:nvSpPr>
        <p:spPr>
          <a:xfrm>
            <a:off x="92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313" name="Badge 313"/>
          <p:cNvSpPr/>
          <p:nvPr/>
        </p:nvSpPr>
        <p:spPr>
          <a:xfrm>
            <a:off x="69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314" name="Badge 314"/>
          <p:cNvSpPr/>
          <p:nvPr/>
        </p:nvSpPr>
        <p:spPr>
          <a:xfrm>
            <a:off x="92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600" name="GherkinBridge"/>
          <p:cNvSpPr/>
          <p:nvPr/>
        </p:nvSpPr>
        <p:spPr>
          <a:xfrm>
            <a:off x="457200" y="6180000"/>
            <a:ext cx="10972800" cy="420000"/>
          </a:xfrm>
          <a:prstGeom prst="roundRect">
            <a:avLst>
              <a:gd name="adj" fmla="val 8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JOINTLY OWNED  </a:t>
            </a:r>
            <a:r>
              <a:rPr sz="1100" b="0">
                <a:solidFill>
                  <a:srgbClr val="D0E8F8"/>
                </a:solidFill>
                <a:latin typeface="Calibri"/>
              </a:rPr>
              <a:t>Systems Engineers + Software Developers co-author Gherkin (.feature)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ECF0F1"/>
                </a:solidFill>
                <a:latin typeface="Calibri"/>
              </a:defRPr>
            </a:pPr>
            <a: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217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0E0E0"/>
                </a:solidFill>
                <a:latin typeface="Consolas"/>
              </a:defRPr>
            </a:pPr>
            <a:r>
              <a:t>Feature: Basic ICD Communications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@VC:SYS-REQ-001-VC-01 @VER:Test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Valid ICD produces correct response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product logs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"Received IcdRequest: test-001"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@VC:SYS-REQ-001-VC-02 @VER:Demonstration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Demonstrate round-trip ICD exchange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simulator log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"IcdResponse received with status OK"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Tag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37744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requirement ID</a:t>
            </a:r>
            <a:br/>
            <a:r>
              <a:t>Placed at Feature level</a:t>
            </a:r>
            <a:br/>
            <a:r>
              <a:t>(inherited by all scenarios)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4612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5C07B"/>
                </a:solidFill>
                <a:latin typeface="Consolas"/>
              </a:defRPr>
            </a:pPr>
            <a:r>
              <a:t>@VC:...-VC-01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66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specific VC</a:t>
            </a:r>
            <a:br/>
            <a:r>
              <a:t>Placed at Scenario level</a:t>
            </a:r>
            <a:br/>
            <a:r>
              <a:t>(each scenario tests one VC)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11480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160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98C379"/>
                </a:solidFill>
                <a:latin typeface="Consolas"/>
              </a:defRPr>
            </a:pPr>
            <a:r>
              <a:t>@VER:Test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434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Verification criteria type</a:t>
            </a:r>
            <a:br/>
            <a:r>
              <a:t>Informational only</a:t>
            </a:r>
            <a:br/>
            <a:r>
              <a:t>(ADIT classification)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498348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5029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06C75"/>
                </a:solidFill>
                <a:latin typeface="Consolas"/>
              </a:defRPr>
            </a:pPr>
            <a:r>
              <a:t>@REVIEW_REQUIRED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303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Injected by Gate B</a:t>
            </a:r>
            <a:br/>
            <a:r>
              <a:t>when criteria text drifts</a:t>
            </a:r>
            <a:br/>
            <a:r>
              <a:t>(must be resolved to pass)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585216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5897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46E7A"/>
                </a:solidFill>
                <a:latin typeface="Consolas"/>
              </a:defRPr>
            </a:pPr>
            <a:r>
              <a:t>@STUB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172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Auto-generated placeholder</a:t>
            </a:r>
            <a:br/>
            <a:r>
              <a:t>Replaced by real scenario</a:t>
            </a:r>
            <a:br/>
            <a:r>
              <a:t>when SE + Dev collaborate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9" name="Oval 28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CI/CD Pipeline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69B0"/>
                </a:solidFill>
                <a:latin typeface="Calibri"/>
              </a:defRPr>
            </a:pPr>
            <a:r>
              <a:t>Repo 1: Model Pipeline (on every push)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  <a:br/>
            <a:r>
              <a:t>Exports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Check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052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Generate</a:t>
            </a:r>
            <a:br/>
            <a:r>
              <a:t>Protos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648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Package</a:t>
            </a:r>
            <a:br/>
            <a:r>
              <a:t>Artifact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9244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Tag &amp;</a:t>
            </a:r>
            <a:br/>
            <a:r>
              <a:t>Release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669280" y="2834640"/>
            <a:ext cx="457200" cy="640080"/>
          </a:xfrm>
          <a:prstGeom prst="down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D1B2A"/>
                </a:solidFill>
                <a:latin typeface="Calibri"/>
              </a:defRPr>
            </a:pPr>
            <a:r>
              <a:t>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99D6"/>
                </a:solidFill>
                <a:latin typeface="Calibri"/>
              </a:defRPr>
            </a:pPr>
            <a:r>
              <a:t>Repo 2: Product Pipeline (on every push)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Check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9456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2316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A</a:t>
            </a:r>
            <a:br/>
            <a:r>
              <a:t>Coverage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6052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B</a:t>
            </a:r>
            <a:br/>
            <a:r>
              <a:t>Drift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12648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C</a:t>
            </a:r>
            <a:br/>
            <a:r>
              <a:t>Orphans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9244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Execution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870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Final</a:t>
            </a:r>
            <a:br/>
            <a:r>
              <a:t>Reports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6" name="Oval 45"/>
          <p:cNvSpPr/>
          <p:nvPr/>
        </p:nvSpPr>
        <p:spPr>
          <a:xfrm>
            <a:off x="7618323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400" name="Label 400"/>
          <p:cNvSpPr txBox="1"/>
          <p:nvPr/>
        </p:nvSpPr>
        <p:spPr>
          <a:xfrm>
            <a:off x="457200" y="552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01" name="Badge 401"/>
          <p:cNvSpPr/>
          <p:nvPr/>
        </p:nvSpPr>
        <p:spPr>
          <a:xfrm>
            <a:off x="45720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402" name="Badge 402"/>
          <p:cNvSpPr/>
          <p:nvPr/>
        </p:nvSpPr>
        <p:spPr>
          <a:xfrm>
            <a:off x="209008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403" name="Badge 403"/>
          <p:cNvSpPr/>
          <p:nvPr/>
        </p:nvSpPr>
        <p:spPr>
          <a:xfrm>
            <a:off x="3722964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404" name="Badge 404"/>
          <p:cNvSpPr/>
          <p:nvPr/>
        </p:nvSpPr>
        <p:spPr>
          <a:xfrm>
            <a:off x="5355846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5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405" name="Badge 405"/>
          <p:cNvSpPr/>
          <p:nvPr/>
        </p:nvSpPr>
        <p:spPr>
          <a:xfrm>
            <a:off x="6988728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406" name="Badge 406"/>
          <p:cNvSpPr/>
          <p:nvPr/>
        </p:nvSpPr>
        <p:spPr>
          <a:xfrm>
            <a:off x="862161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407" name="Badge 407"/>
          <p:cNvSpPr/>
          <p:nvPr/>
        </p:nvSpPr>
        <p:spPr>
          <a:xfrm>
            <a:off x="1025449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Traceability &amp; Audit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Every pipeline run produces a complete, machine-generated evidence chain — no manual assembly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  <a:br/>
            <a:r>
              <a:t>in Cameo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  <a:br/>
            <a:r>
              <a:t>Method (VM)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1772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  <a:br/>
            <a:r>
              <a:t>Scenario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4944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Result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>What This Means for Compliance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Minutes, Not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Traceability matrix is generated on every commit — always current, always complete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Every Change Tracked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Git history + baseline diffs show exactly when requirements changed and who acknowledged them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Missing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A ensures every verification criteria has coverage — gaps are caught before merge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Stale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B detects criteria drift — existing tests are flagged for re-review when requirements change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Ghost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C catches orphaned tests — scenarios for deleted requirements are flagged for removal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Immutable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CI artifacts (JSON + HTML reports) are stored per build — reproducible audit trail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4" name="Oval 43"/>
          <p:cNvSpPr/>
          <p:nvPr/>
        </p:nvSpPr>
        <p:spPr>
          <a:xfrm>
            <a:off x="920023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2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Reduce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2834640"/>
            <a:ext cx="1645920" cy="25400"/>
          </a:xfrm>
          <a:prstGeom prst="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Every requirement is verified before</a:t>
            </a:r>
            <a:br/>
            <a:r>
              <a:t>deployment. No gaps, no surprises.</a:t>
            </a:r>
            <a:br/>
            <a:r>
              <a:t>Quality gates catch problems early.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Accelerate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834640"/>
            <a:ext cx="164592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Automated traceability eliminates</a:t>
            </a:r>
            <a:br/>
            <a:r>
              <a:t>weeks of manual evidence assembly.</a:t>
            </a:r>
            <a:br/>
            <a:r>
              <a:t>CI/CD runs on every commit.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3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3F80"/>
                </a:solidFill>
                <a:latin typeface="Calibri"/>
              </a:defRPr>
            </a:pPr>
            <a:r>
              <a:t>Ensure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834640"/>
            <a:ext cx="1645920" cy="25400"/>
          </a:xfrm>
          <a:prstGeom prst="rect">
            <a:avLst/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Machine-generated audit trail from</a:t>
            </a:r>
            <a:br/>
            <a:r>
              <a:t>model to deployment. Immutable,</a:t>
            </a:r>
            <a:br/>
            <a:r>
              <a:t>reproducible, always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One pipeline.  Model to deployment.  Full traceability.  Every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0">
                <a:solidFill>
                  <a:srgbClr val="0069B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0" name="Oval 29"/>
          <p:cNvSpPr/>
          <p:nvPr/>
        </p:nvSpPr>
        <p:spPr>
          <a:xfrm>
            <a:off x="10782147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