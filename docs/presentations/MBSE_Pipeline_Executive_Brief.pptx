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3600" b="1">
                <a:solidFill>
                  <a:srgbClr val="FFFFFF"/>
                </a:solidFill>
              </a:rPr>
              <a:t>Model-Based Systems Engineering Pipeline</a:t>
            </a:r>
          </a:p>
          <a:p>
            <a:pPr algn="ctr">
              <a:spcAft>
                <a:spcPts val="1600"/>
              </a:spcAft>
            </a:pPr>
            <a:r>
              <a:rPr sz="1600" b="0">
                <a:solidFill>
                  <a:srgbClr val="AAAAAA"/>
                </a:solidFill>
              </a:rPr>
              <a:t>From Requirements to Deployed Product — Automated, Traceable, Auditable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0099D6"/>
                </a:solidFill>
              </a:rPr>
              <a:t>Executive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88888"/>
                </a:solidFill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D1B2A"/>
                </a:solidFill>
              </a:rPr>
              <a:t>Built for Program Velocity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D1B2A"/>
                </a:solidFill>
              </a:rPr>
              <a:t>The Structural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099D6"/>
                </a:solidFill>
              </a:rPr>
              <a:t>No Shared Language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</a:rPr>
              <a:t>SEs work in the model, developers work in code. Without a bridge, intent gets lost in translation at every handoff.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099D6"/>
                </a:solidFill>
              </a:rPr>
              <a:t>No Reliable Handoff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</a:rPr>
              <a:t>Artifacts shared over email or SharePoint have no version control, no change awareness, and no enforcement.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099D6"/>
                </a:solidFill>
              </a:rPr>
              <a:t>No Connected Toolchain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</a:rPr>
              <a:t>Requirements, tests, and deployment are maintained in separate tools with no automated thread between them.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303520" cy="36576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D1B2A"/>
                </a:solidFill>
              </a:rPr>
              <a:t>Why the Old Approach Falls Short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55555"/>
                </a:solidFill>
              </a:rPr>
              <a:t>•  Requirements are living targets — this program moves faster than any manual process can track.</a:t>
            </a:r>
          </a:p>
          <a:p>
            <a:pPr algn="l">
              <a:spcAft>
                <a:spcPts val="800"/>
              </a:spcAft>
            </a:pPr>
            <a:r>
              <a:rPr sz="1000" b="0">
                <a:solidFill>
                  <a:srgbClr val="555555"/>
                </a:solidFill>
              </a:rPr>
              <a:t>•  SE/SW misalignment surfaces at integration — the most expensive point to find it.</a:t>
            </a:r>
          </a:p>
          <a:p>
            <a:pPr algn="l">
              <a:spcAft>
                <a:spcPts val="800"/>
              </a:spcAft>
            </a:pPr>
            <a:r>
              <a:rPr sz="1000" b="0">
                <a:solidFill>
                  <a:srgbClr val="555555"/>
                </a:solidFill>
              </a:rPr>
              <a:t>•  Audit evidence reconstructed from scratch each review cycle — unsustainable at this pace.</a:t>
            </a:r>
          </a:p>
          <a:p>
            <a:pPr algn="l">
              <a:spcAft>
                <a:spcPts val="800"/>
              </a:spcAft>
            </a:pPr>
            <a:r>
              <a:rPr sz="1000" b="0">
                <a:solidFill>
                  <a:srgbClr val="555555"/>
                </a:solidFill>
              </a:rPr>
              <a:t>•  Requirement changes silently invalidate tests — no alert, no flag, no enforcement.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03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D1B2A"/>
                </a:solidFill>
              </a:rPr>
              <a:t>This program moves too fast for manual traceability. The pipeline keeps pace.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88888"/>
                </a:solidFill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D1B2A"/>
                </a:solidFill>
              </a:rPr>
              <a:t>The Solution: Gherkin as the Common Language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</a:rPr>
              <a:t>Systems Engineers and developers communicate through executable specifications — Gherkin scenarios that trace directly to Cameo requirements and run as automated tests.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3200400" cy="25603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D1B2A"/>
                </a:solidFill>
              </a:rPr>
              <a:t>Cameo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0099D6"/>
                </a:solidFill>
              </a:rPr>
              <a:t>Owned by Systems Engineers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55555"/>
                </a:solidFill>
              </a:rPr>
              <a:t>•  Requirements with verification criteria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555555"/>
                </a:solidFill>
              </a:rPr>
              <a:t>•  ICD definitions and message types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555555"/>
                </a:solidFill>
              </a:rPr>
              <a:t>•  Criteria text drives test intent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555555"/>
                </a:solidFill>
              </a:rPr>
              <a:t>•  Model changes trigger drift 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0" y="1371600"/>
            <a:ext cx="4114800" cy="2926080"/>
          </a:xfrm>
          <a:prstGeom prst="roundRect">
            <a:avLst/>
          </a:prstGeom>
          <a:solidFill>
            <a:srgbClr val="00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46304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</a:rPr>
              <a:t>Gherkin Specifications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78308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BBBBBB"/>
                </a:solidFill>
              </a:rPr>
              <a:t>Co-authored by SEs + Developers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194560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</a:rPr>
              <a:t>@REQ:SYS-REQ-001</a:t>
            </a:r>
          </a:p>
          <a:p>
            <a:pPr algn="l"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</a:rPr>
              <a:t>Feature: Basic ICD Communications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BBBBBB"/>
                </a:solidFill>
              </a:rPr>
              <a:t> </a:t>
            </a:r>
          </a:p>
          <a:p>
            <a:pPr algn="l"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</a:rPr>
              <a:t>  @VC:SYS-REQ-001-VC-01 @VER:Test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BBBBBB"/>
                </a:solidFill>
              </a:rPr>
              <a:t>  Scenario: Valid ICD response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BBBBBB"/>
                </a:solidFill>
              </a:rPr>
              <a:t>    Given the simulation logs are loaded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BBBBBB"/>
                </a:solidFill>
              </a:rPr>
              <a:t>    Then the logs should contain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BBBBBB"/>
                </a:solidFill>
              </a:rPr>
              <a:t>         "IcdResponse: status=OK"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1554480"/>
            <a:ext cx="3200400" cy="25603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16459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D1B2A"/>
                </a:solidFill>
              </a:rPr>
              <a:t>Automated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19659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0099D6"/>
                </a:solidFill>
              </a:rPr>
              <a:t>Owned by Developers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33172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55555"/>
                </a:solidFill>
              </a:rPr>
              <a:t>•  Step definitions implement the HOW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555555"/>
                </a:solidFill>
              </a:rPr>
              <a:t>•  Log analysis against deployed product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555555"/>
                </a:solidFill>
              </a:rPr>
              <a:t>•  Results feed the pipeline report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555555"/>
                </a:solidFill>
              </a:rPr>
              <a:t>•  CI/CD runs on every commit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703320" y="2651760"/>
            <a:ext cx="274320" cy="274320"/>
          </a:xfrm>
          <a:prstGeom prst="rightArrow">
            <a:avLst/>
          </a:prstGeom>
          <a:solidFill>
            <a:srgbClr val="00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8183879" y="2651760"/>
            <a:ext cx="274320" cy="274320"/>
          </a:xfrm>
          <a:prstGeom prst="rightArrow">
            <a:avLst/>
          </a:prstGeom>
          <a:solidFill>
            <a:srgbClr val="00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D1B2A"/>
                </a:solidFill>
              </a:rPr>
              <a:t>How It Flows Through the Pipelines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846320"/>
            <a:ext cx="5486400" cy="4572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8737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0099D6"/>
                </a:solidFill>
              </a:rPr>
              <a:t>MODEL PIPELINE</a:t>
            </a:r>
            <a:r>
              <a:rPr sz="800" b="0">
                <a:solidFill>
                  <a:srgbClr val="555555"/>
                </a:solidFill>
              </a:rPr>
              <a:t>    Cameo  →  Export  →  Package  →  Publish Artifact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2743200" y="5349240"/>
            <a:ext cx="274320" cy="228600"/>
          </a:xfrm>
          <a:prstGeom prst="downArrow">
            <a:avLst/>
          </a:prstGeom>
          <a:solidFill>
            <a:srgbClr val="00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5623560"/>
            <a:ext cx="5486400" cy="4572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6509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0099D6"/>
                </a:solidFill>
              </a:rPr>
              <a:t>PRODUCT PIPELINE</a:t>
            </a:r>
            <a:r>
              <a:rPr sz="800" b="0">
                <a:solidFill>
                  <a:srgbClr val="555555"/>
                </a:solidFill>
              </a:rPr>
              <a:t>    Fetch  →  Quality Gates  →  BDD Tests  →  Deploy + 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709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69B0"/>
                </a:solidFill>
              </a:rPr>
              <a:t>Readable by both sides</a:t>
            </a:r>
            <a:r>
              <a:rPr sz="900" b="0">
                <a:solidFill>
                  <a:srgbClr val="555555"/>
                </a:solidFill>
              </a:rPr>
              <a:t>  —  SEs validate intent, developers implement steps.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166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69B0"/>
                </a:solidFill>
              </a:rPr>
              <a:t>Machine-traceable</a:t>
            </a:r>
            <a:r>
              <a:rPr sz="900" b="0">
                <a:solidFill>
                  <a:srgbClr val="555555"/>
                </a:solidFill>
              </a:rPr>
              <a:t>  —  Tags (@REQ, @VC) create the link to requirements.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623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69B0"/>
                </a:solidFill>
              </a:rPr>
              <a:t>Pipeline-enforced</a:t>
            </a:r>
            <a:r>
              <a:rPr sz="900" b="0">
                <a:solidFill>
                  <a:srgbClr val="555555"/>
                </a:solidFill>
              </a:rPr>
              <a:t>  —  Quality gates ensure every VC has a scenario.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6126480"/>
            <a:ext cx="5303520" cy="365760"/>
          </a:xfrm>
          <a:prstGeom prst="roundRect">
            <a:avLst/>
          </a:prstGeom>
          <a:solidFill>
            <a:srgbClr val="0A1420"/>
          </a:solidFill>
          <a:ln w="12700">
            <a:solidFill>
              <a:srgbClr val="00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616305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One language. Model to deployment. Both sides own the spec.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88888"/>
                </a:solidFill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D1B2A"/>
                </a:solidFill>
              </a:rPr>
              <a:t>Release Planning &amp; Program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</a:rPr>
              <a:t>Requirements are delivered incrementally across releases. The pipeline tracks what’s in scope, what’s deferred, and what’s shipped.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103120" cy="18288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103120" cy="411480"/>
          </a:xfrm>
          <a:prstGeom prst="roundRect">
            <a:avLst/>
          </a:prstGeom>
          <a:solidFill>
            <a:srgbClr val="008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733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Release 1.0.0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0099D6"/>
                </a:solidFill>
              </a:rPr>
              <a:t>SHIPPED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2316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</a:rPr>
              <a:t>Core ICD &amp;
Health Monitoring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1645920"/>
            <a:ext cx="2103120" cy="18288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697480" y="1645920"/>
            <a:ext cx="2103120" cy="411480"/>
          </a:xfrm>
          <a:prstGeom prst="roundRect">
            <a:avLst/>
          </a:prstGeom>
          <a:solidFill>
            <a:srgbClr val="008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16733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Release 1.1.0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1488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0099D6"/>
                </a:solidFill>
              </a:rPr>
              <a:t>SHIPPED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42316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</a:rPr>
              <a:t>Error Handling &amp;
Message 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1645920"/>
            <a:ext cx="2103120" cy="18288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937760" y="1645920"/>
            <a:ext cx="2103120" cy="411480"/>
          </a:xfrm>
          <a:prstGeom prst="roundRect">
            <a:avLst/>
          </a:prstGeom>
          <a:solidFill>
            <a:srgbClr val="00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16733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Release 1.2.0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1488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0069B0"/>
                </a:solidFill>
              </a:rPr>
              <a:t>CURRENT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42316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</a:rPr>
              <a:t>Degradation &amp;
Configuration Mgmt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78040" y="1645920"/>
            <a:ext cx="2103120" cy="18288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178040" y="1645920"/>
            <a:ext cx="2103120" cy="41148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9480" y="16733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Release 2.0.0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21488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888888"/>
                </a:solidFill>
              </a:rPr>
              <a:t>PLANNED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242316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</a:rPr>
              <a:t>Resilience, Self-Test
&amp; Data Logging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18320" y="1645920"/>
            <a:ext cx="2103120" cy="18288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418320" y="1645920"/>
            <a:ext cx="2103120" cy="41148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16733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Release 2.1.0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21488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888888"/>
                </a:solidFill>
              </a:rPr>
              <a:t>PLANNED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242316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</a:rPr>
              <a:t>Firmware Update &amp;
Network Tolerance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D1B2A"/>
                </a:solidFill>
              </a:rPr>
              <a:t>How It Works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2976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69B0"/>
                </a:solidFill>
              </a:rPr>
              <a:t>release-plan.json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</a:rPr>
              <a:t>A single file maps requirements to release versions. Checked into Git alongside the code.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8920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69B0"/>
                </a:solidFill>
              </a:rPr>
              <a:t>Cumulative Scope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</a:rPr>
              <a:t>Each release includes all prior releases. Release 1.2.0 enforces everything from 1.0.0 + 1.1.0 + 1.2.0.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4864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69B0"/>
                </a:solidFill>
              </a:rPr>
              <a:t>Deferred VCs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</a:rPr>
              <a:t>Out-of-scope verification criteria appear as “deferred” — visible but not blocking the current release.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D1B2A"/>
                </a:solidFill>
              </a:rPr>
              <a:t>Program Visibility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2976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69B0"/>
                </a:solidFill>
              </a:rPr>
              <a:t>Readiness Ring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</a:rPr>
              <a:t>At-a-glance percentage showing how many VCs are passing for the selected release.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8920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69B0"/>
                </a:solidFill>
              </a:rPr>
              <a:t>Release Filter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</a:rPr>
              <a:t>A global dropdown scopes the entire dashboard to any release — past, current, or future.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4864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69B0"/>
                </a:solidFill>
              </a:rPr>
              <a:t>Release Progress Tab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</a:rPr>
              <a:t>Full roadmap with per-release progress bars, target dates, and clickable VC details.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6035040"/>
            <a:ext cx="11247120" cy="41148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00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608990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D1B2A"/>
                </a:solidFill>
              </a:rPr>
              <a:t>One dashboard shows the full program — what shipped, what’s in progress, and what’s planned. Updated on every build.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88888"/>
                </a:solidFill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D1B2A"/>
                </a:solidFill>
              </a:rPr>
              <a:t>Where This Fits: Layered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</a:rPr>
              <a:t>The MBSE pipeline automates E2E testing — deploying the product, running simulations, and verifying requirements through log analysis.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4937760"/>
            <a:ext cx="5029200" cy="68580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Static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114800"/>
            <a:ext cx="4297680" cy="68580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Unit Tests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3291840"/>
            <a:ext cx="3566160" cy="68580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38328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Integration Tests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2468880"/>
            <a:ext cx="2834640" cy="685800"/>
          </a:xfrm>
          <a:prstGeom prst="roundRect">
            <a:avLst/>
          </a:prstGeom>
          <a:solidFill>
            <a:srgbClr val="0069B0"/>
          </a:solidFill>
          <a:ln w="31750">
            <a:solidFill>
              <a:srgbClr val="009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256032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E2E Tests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1645920"/>
            <a:ext cx="2103120" cy="68580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17373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</a:rPr>
              <a:t>Manual &amp;
Exploratory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" y="1554480"/>
            <a:ext cx="365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888888"/>
                </a:solidFill>
              </a:rPr>
              <a:t>Cost 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56692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888888"/>
                </a:solidFill>
              </a:rPr>
              <a:t>Speed 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5603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69B0"/>
                </a:solidFill>
              </a:rPr>
              <a:t>◀ MBSE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D1B2A"/>
                </a:solidFill>
              </a:rPr>
              <a:t>What the Pipeline Provides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18288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69B0"/>
                </a:solidFill>
              </a:rPr>
              <a:t>Requirement Traceability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</a:rPr>
              <a:t>Every Cameo requirement maps to a Gherkin scenario. Gate A enforces 100% coverage.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542032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69B0"/>
                </a:solidFill>
              </a:rPr>
              <a:t>Automated E2E Verification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</a:rPr>
              <a:t>BDD scenarios run against simulation logs after product deployment. Results captured automatically.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255264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69B0"/>
                </a:solidFill>
              </a:rPr>
              <a:t>Drift Detection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</a:rPr>
              <a:t>Gate B detects when the model changes and flags tests for review — no silent invalidation.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968496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69B0"/>
                </a:solidFill>
              </a:rPr>
              <a:t>Evidence Generation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</a:rPr>
              <a:t>The Deployment Pipeline Report is produced on every build — a complete audit trail.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681728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69B0"/>
                </a:solidFill>
              </a:rPr>
              <a:t>Release-Aware Gating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</a:rPr>
              <a:t>Quality gates only enforce VCs in scope for the current release. Future work is tracked but not blocking.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035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888888"/>
                </a:solidFill>
              </a:rPr>
              <a:t>Static analysis, unit, and integration tests are owned by developers. The MBSE pipeline automates the E2E layer with full requirement traceability.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88888"/>
                </a:solidFill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D1B2A"/>
                </a:solidFill>
              </a:rPr>
              <a:t>Three Quality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</a:rPr>
              <a:t>Automated checks that run on every commit — the pipeline will not proceed until all gates pass.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3566160" cy="41148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566160" cy="457200"/>
          </a:xfrm>
          <a:prstGeom prst="roundRect">
            <a:avLst/>
          </a:prstGeom>
          <a:solidFill>
            <a:srgbClr val="00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Gate A: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55555"/>
                </a:solidFill>
              </a:rPr>
              <a:t>•  Ensures every verification criteria has at least one Gherkin scenario</a:t>
            </a:r>
          </a:p>
          <a:p>
            <a:pPr algn="l">
              <a:spcAft>
                <a:spcPts val="800"/>
              </a:spcAft>
            </a:pPr>
            <a:r>
              <a:rPr sz="1000" b="0">
                <a:solidFill>
                  <a:srgbClr val="555555"/>
                </a:solidFill>
              </a:rPr>
              <a:t>•  Generates stub feature files for uncovered VCs</a:t>
            </a:r>
          </a:p>
          <a:p>
            <a:pPr algn="l">
              <a:spcAft>
                <a:spcPts val="800"/>
              </a:spcAft>
            </a:pPr>
            <a:r>
              <a:rPr sz="1000" b="0">
                <a:solidFill>
                  <a:srgbClr val="555555"/>
                </a:solidFill>
              </a:rPr>
              <a:t>•  Prevents requirements from reaching deployment without tests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39" y="1554480"/>
            <a:ext cx="3566160" cy="41148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06239" y="1554480"/>
            <a:ext cx="3566160" cy="457200"/>
          </a:xfrm>
          <a:prstGeom prst="roundRect">
            <a:avLst/>
          </a:prstGeom>
          <a:solidFill>
            <a:srgbClr val="008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399" y="1600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Gate B: Drift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19" y="219456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55555"/>
                </a:solidFill>
              </a:rPr>
              <a:t>•  Detects when requirement criteria text changes in the model</a:t>
            </a:r>
          </a:p>
          <a:p>
            <a:pPr algn="l">
              <a:spcAft>
                <a:spcPts val="800"/>
              </a:spcAft>
            </a:pPr>
            <a:r>
              <a:rPr sz="1000" b="0">
                <a:solidFill>
                  <a:srgbClr val="555555"/>
                </a:solidFill>
              </a:rPr>
              <a:t>•  Compares SHA-256 hash of criteria against baseline</a:t>
            </a:r>
          </a:p>
          <a:p>
            <a:pPr algn="l">
              <a:spcAft>
                <a:spcPts val="800"/>
              </a:spcAft>
            </a:pPr>
            <a:r>
              <a:rPr sz="1000" b="0">
                <a:solidFill>
                  <a:srgbClr val="555555"/>
                </a:solidFill>
              </a:rPr>
              <a:t>•  Injects @REVIEW_REQUIRED tag — forces developer to review &amp; acknowledge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8" y="1554480"/>
            <a:ext cx="3566160" cy="41148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55278" y="1554480"/>
            <a:ext cx="3566160" cy="457200"/>
          </a:xfrm>
          <a:prstGeom prst="roundRect">
            <a:avLst/>
          </a:prstGeom>
          <a:solidFill>
            <a:srgbClr val="00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38" y="1600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Gate C: Orphan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8" y="219456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55555"/>
                </a:solidFill>
              </a:rPr>
              <a:t>•  Finds test scenarios referencing non-existent requirements</a:t>
            </a:r>
          </a:p>
          <a:p>
            <a:pPr algn="l">
              <a:spcAft>
                <a:spcPts val="800"/>
              </a:spcAft>
            </a:pPr>
            <a:r>
              <a:rPr sz="1000" b="0">
                <a:solidFill>
                  <a:srgbClr val="555555"/>
                </a:solidFill>
              </a:rPr>
              <a:t>•  Catches orphaned @REQ: and @VC: tags</a:t>
            </a:r>
          </a:p>
          <a:p>
            <a:pPr algn="l">
              <a:spcAft>
                <a:spcPts val="800"/>
              </a:spcAft>
            </a:pPr>
            <a:r>
              <a:rPr sz="1000" b="0">
                <a:solidFill>
                  <a:srgbClr val="555555"/>
                </a:solidFill>
              </a:rPr>
              <a:t>•  Ensures test suite stays in sync with the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88888"/>
                </a:solidFill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D1B2A"/>
                </a:solidFill>
              </a:rPr>
              <a:t>Collaborative Test Authoring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</a:rPr>
              <a:t>SEs and Developers co-author Gherkin specifications — SEs define WHAT to verify, developers implement HOW.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303520" cy="41148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303520" cy="640080"/>
          </a:xfrm>
          <a:prstGeom prst="roundRect">
            <a:avLst/>
          </a:prstGeom>
          <a:solidFill>
            <a:srgbClr val="00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</a:rPr>
              <a:t>Systems Engineers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BBBBBB"/>
                </a:solidFill>
              </a:rPr>
              <a:t>Own the WHAT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55555"/>
                </a:solidFill>
              </a:rPr>
              <a:t>•  Author requirements &amp; verification criteria in Cameo</a:t>
            </a:r>
          </a:p>
          <a:p>
            <a:pPr algn="l">
              <a:spcAft>
                <a:spcPts val="800"/>
              </a:spcAft>
            </a:pPr>
            <a:r>
              <a:rPr sz="1000" b="0">
                <a:solidFill>
                  <a:srgbClr val="555555"/>
                </a:solidFill>
              </a:rPr>
              <a:t>•  Co-author Gherkin Features &amp; Scenarios</a:t>
            </a:r>
          </a:p>
          <a:p>
            <a:pPr algn="l">
              <a:spcAft>
                <a:spcPts val="800"/>
              </a:spcAft>
            </a:pPr>
            <a:r>
              <a:rPr sz="1000" b="0">
                <a:solidFill>
                  <a:srgbClr val="555555"/>
                </a:solidFill>
              </a:rPr>
              <a:t>•  Write Given / When / Then specifications</a:t>
            </a:r>
          </a:p>
          <a:p>
            <a:pPr algn="l">
              <a:spcAft>
                <a:spcPts val="800"/>
              </a:spcAft>
            </a:pPr>
            <a:r>
              <a:rPr sz="1000" b="0">
                <a:solidFill>
                  <a:srgbClr val="555555"/>
                </a:solidFill>
              </a:rPr>
              <a:t>•  Ensure scenarios satisfy the intent of each VC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54480"/>
            <a:ext cx="5303520" cy="41148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26480" y="1554480"/>
            <a:ext cx="5303520" cy="640080"/>
          </a:xfrm>
          <a:prstGeom prst="roundRect">
            <a:avLst/>
          </a:prstGeom>
          <a:solidFill>
            <a:srgbClr val="008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62763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</a:rPr>
              <a:t>Software Developers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BBBBBB"/>
                </a:solidFill>
              </a:rPr>
              <a:t>Own the HOW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37744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55555"/>
                </a:solidFill>
              </a:rPr>
              <a:t>•  Implement step definitions (Python code behind steps)</a:t>
            </a:r>
          </a:p>
          <a:p>
            <a:pPr algn="l">
              <a:spcAft>
                <a:spcPts val="800"/>
              </a:spcAft>
            </a:pPr>
            <a:r>
              <a:rPr sz="1000" b="0">
                <a:solidFill>
                  <a:srgbClr val="555555"/>
                </a:solidFill>
              </a:rPr>
              <a:t>•  Build log-analysis assertions against system output</a:t>
            </a:r>
          </a:p>
          <a:p>
            <a:pPr algn="l">
              <a:spcAft>
                <a:spcPts val="800"/>
              </a:spcAft>
            </a:pPr>
            <a:r>
              <a:rPr sz="1000" b="0">
                <a:solidFill>
                  <a:srgbClr val="555555"/>
                </a:solidFill>
              </a:rPr>
              <a:t>•  Maintain BDD test infrastructure &amp; helpers</a:t>
            </a:r>
          </a:p>
          <a:p>
            <a:pPr algn="l">
              <a:spcAft>
                <a:spcPts val="800"/>
              </a:spcAft>
            </a:pPr>
            <a:r>
              <a:rPr sz="1000" b="0">
                <a:solidFill>
                  <a:srgbClr val="555555"/>
                </a:solidFill>
              </a:rPr>
              <a:t>•  Write product application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8521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099D6"/>
                </a:solidFill>
              </a:rPr>
              <a:t>JOINTLY OWNED  —  Systems Engineers + Software Developers co-author Gherkin (.feature) 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88888"/>
                </a:solidFill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</a:rPr>
              <a:t>Gherkin Specification &amp; Tag Convention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AAAAA"/>
                </a:solidFill>
              </a:rPr>
              <a:t>Tags create the machine-readable traceability link between requirements and test scenarios.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943600" cy="4114800"/>
          </a:xfrm>
          <a:prstGeom prst="roundRect">
            <a:avLst/>
          </a:prstGeom>
          <a:solidFill>
            <a:srgbClr val="142538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5577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0099D6"/>
                </a:solidFill>
              </a:rPr>
              <a:t>@REQ:SYS-REQ-001</a:t>
            </a:r>
          </a:p>
          <a:p>
            <a:pPr algn="l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</a:rPr>
              <a:t>Feature: Basic ICD Communications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900" b="1">
                <a:solidFill>
                  <a:srgbClr val="0099D6"/>
                </a:solidFill>
              </a:rPr>
              <a:t>  @VC:SYS-REQ-001-VC-01 @VER:Test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</a:rPr>
              <a:t>  Scenario: Valid ICD produces correct response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BBBBBB"/>
                </a:solidFill>
              </a:rPr>
              <a:t>    Given the simulation logs are loaded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BBBBBB"/>
                </a:solidFill>
              </a:rPr>
              <a:t>    Then the product logs should contain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BBBBBB"/>
                </a:solidFill>
              </a:rPr>
              <a:t>         "Received IcdRequest: test-001"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5544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Tag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0116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099D6"/>
                </a:solidFill>
              </a:rPr>
              <a:t>@REQ:SYS-REQ-001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AAAAAA"/>
                </a:solidFill>
              </a:rPr>
              <a:t>Links to requirement ID. Placed at Feature level.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5603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099D6"/>
                </a:solidFill>
              </a:rPr>
              <a:t>@VC:...-VC-01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AAAAAA"/>
                </a:solidFill>
              </a:rPr>
              <a:t>Links to specific VC. Placed at Scenario level.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310896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099D6"/>
                </a:solidFill>
              </a:rPr>
              <a:t>@VER:Test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AAAAAA"/>
                </a:solidFill>
              </a:rPr>
              <a:t>Verification criteria type (INCOSE ADIT classification).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6576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099D6"/>
                </a:solidFill>
              </a:rPr>
              <a:t>@REVIEW_REQUIRED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AAAAAA"/>
                </a:solidFill>
              </a:rPr>
              <a:t>Injected by Gate B when criteria text drifts.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42062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099D6"/>
                </a:solidFill>
              </a:rPr>
              <a:t>@STUB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AAAAAA"/>
                </a:solidFill>
              </a:rPr>
              <a:t>Auto-generated placeholder. Replaced by real scenario.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47548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099D6"/>
                </a:solidFill>
              </a:rPr>
              <a:t>@DEFERRED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AAAAAA"/>
                </a:solidFill>
              </a:rPr>
              <a:t>Injected by pipeline when VC is scoped to a future release.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88888"/>
                </a:solidFill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D1B2A"/>
                </a:solidFill>
              </a:rPr>
              <a:t>CI/CD Pipeline Stages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D1B2A"/>
                </a:solidFill>
              </a:rPr>
              <a:t>Repo 1: Model Pipeline (on every push)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011680" cy="731520"/>
          </a:xfrm>
          <a:prstGeom prst="roundRect">
            <a:avLst/>
          </a:prstGeom>
          <a:solidFill>
            <a:srgbClr val="00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19072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FFFFFF"/>
                </a:solidFill>
              </a:rPr>
              <a:t>Validate
Exports</a:t>
            </a:r>
          </a:p>
          <a:p>
            <a:pPr algn="l">
              <a:spcAft>
                <a:spcPts val="0"/>
              </a:spcAft>
            </a:pPr>
            <a:r>
              <a:rPr sz="700" b="0">
                <a:solidFill>
                  <a:srgbClr val="BBBBBB"/>
                </a:solidFill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6040" y="1645920"/>
            <a:ext cx="2011680" cy="731520"/>
          </a:xfrm>
          <a:prstGeom prst="roundRect">
            <a:avLst/>
          </a:prstGeom>
          <a:solidFill>
            <a:srgbClr val="00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97480" y="1719072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FFFFFF"/>
                </a:solidFill>
              </a:rPr>
              <a:t>Schema
Check</a:t>
            </a:r>
          </a:p>
          <a:p>
            <a:pPr algn="l">
              <a:spcAft>
                <a:spcPts val="0"/>
              </a:spcAft>
            </a:pPr>
            <a:r>
              <a:rPr sz="700" b="0">
                <a:solidFill>
                  <a:srgbClr val="BBBBBB"/>
                </a:solidFill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645920"/>
            <a:ext cx="2011680" cy="731520"/>
          </a:xfrm>
          <a:prstGeom prst="roundRect">
            <a:avLst/>
          </a:prstGeom>
          <a:solidFill>
            <a:srgbClr val="00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719072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FFFFFF"/>
                </a:solidFill>
              </a:rPr>
              <a:t>Generate
Protos</a:t>
            </a:r>
          </a:p>
          <a:p>
            <a:pPr algn="l">
              <a:spcAft>
                <a:spcPts val="0"/>
              </a:spcAft>
            </a:pPr>
            <a:r>
              <a:rPr sz="700" b="0">
                <a:solidFill>
                  <a:srgbClr val="BBBBBB"/>
                </a:solidFill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1645920"/>
            <a:ext cx="2011680" cy="731520"/>
          </a:xfrm>
          <a:prstGeom prst="roundRect">
            <a:avLst/>
          </a:prstGeom>
          <a:solidFill>
            <a:srgbClr val="00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1719072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FFFFFF"/>
                </a:solidFill>
              </a:rPr>
              <a:t>Package
Artifact</a:t>
            </a:r>
          </a:p>
          <a:p>
            <a:pPr algn="l">
              <a:spcAft>
                <a:spcPts val="0"/>
              </a:spcAft>
            </a:pPr>
            <a:r>
              <a:rPr sz="700" b="0">
                <a:solidFill>
                  <a:srgbClr val="BBBBBB"/>
                </a:solidFill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1645920"/>
            <a:ext cx="2011680" cy="731520"/>
          </a:xfrm>
          <a:prstGeom prst="roundRect">
            <a:avLst/>
          </a:prstGeom>
          <a:solidFill>
            <a:srgbClr val="00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1719072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FFFFFF"/>
                </a:solidFill>
              </a:rPr>
              <a:t>Tag &amp;
Release</a:t>
            </a:r>
          </a:p>
          <a:p>
            <a:pPr algn="l">
              <a:spcAft>
                <a:spcPts val="0"/>
              </a:spcAft>
            </a:pPr>
            <a:r>
              <a:rPr sz="700" b="0">
                <a:solidFill>
                  <a:srgbClr val="BBBBBB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26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D1B2A"/>
                </a:solidFill>
              </a:rPr>
              <a:t>Repo 2: Product Pipeline (on every push)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383280"/>
            <a:ext cx="1737360" cy="731520"/>
          </a:xfrm>
          <a:prstGeom prst="roundRect">
            <a:avLst/>
          </a:prstGeom>
          <a:solidFill>
            <a:srgbClr val="00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456432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FFFFFF"/>
                </a:solidFill>
              </a:rPr>
              <a:t>Traceability
Check</a:t>
            </a:r>
          </a:p>
          <a:p>
            <a:pPr algn="l">
              <a:spcAft>
                <a:spcPts val="0"/>
              </a:spcAft>
            </a:pPr>
            <a:r>
              <a:rPr sz="700" b="0">
                <a:solidFill>
                  <a:srgbClr val="BBBBBB"/>
                </a:solidFill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03120" y="3383280"/>
            <a:ext cx="1737360" cy="731520"/>
          </a:xfrm>
          <a:prstGeom prst="roundRect">
            <a:avLst/>
          </a:prstGeom>
          <a:solidFill>
            <a:srgbClr val="004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94560" y="3456432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FFFFFF"/>
                </a:solidFill>
              </a:rPr>
              <a:t>Gate A
Coverage</a:t>
            </a:r>
          </a:p>
          <a:p>
            <a:pPr algn="l">
              <a:spcAft>
                <a:spcPts val="0"/>
              </a:spcAft>
            </a:pPr>
            <a:r>
              <a:rPr sz="700" b="0">
                <a:solidFill>
                  <a:srgbClr val="BBBBBB"/>
                </a:solidFill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31920" y="3383280"/>
            <a:ext cx="1737360" cy="731520"/>
          </a:xfrm>
          <a:prstGeom prst="roundRect">
            <a:avLst/>
          </a:prstGeom>
          <a:solidFill>
            <a:srgbClr val="004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0" y="3456432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FFFFFF"/>
                </a:solidFill>
              </a:rPr>
              <a:t>Gate B
Drift</a:t>
            </a:r>
          </a:p>
          <a:p>
            <a:pPr algn="l">
              <a:spcAft>
                <a:spcPts val="0"/>
              </a:spcAft>
            </a:pPr>
            <a:r>
              <a:rPr sz="700" b="0">
                <a:solidFill>
                  <a:srgbClr val="BBBBBB"/>
                </a:solidFill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3383280"/>
            <a:ext cx="1737360" cy="731520"/>
          </a:xfrm>
          <a:prstGeom prst="roundRect">
            <a:avLst/>
          </a:prstGeom>
          <a:solidFill>
            <a:srgbClr val="004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0" y="3456432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FFFFFF"/>
                </a:solidFill>
              </a:rPr>
              <a:t>Gate C
Orphans</a:t>
            </a:r>
          </a:p>
          <a:p>
            <a:pPr algn="l">
              <a:spcAft>
                <a:spcPts val="0"/>
              </a:spcAft>
            </a:pPr>
            <a:r>
              <a:rPr sz="700" b="0">
                <a:solidFill>
                  <a:srgbClr val="BBBBBB"/>
                </a:solidFill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3383280"/>
            <a:ext cx="1737360" cy="731520"/>
          </a:xfrm>
          <a:prstGeom prst="roundRect">
            <a:avLst/>
          </a:prstGeom>
          <a:solidFill>
            <a:srgbClr val="008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0" y="3456432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FFFFFF"/>
                </a:solidFill>
              </a:rPr>
              <a:t>BDD Test
Execution</a:t>
            </a:r>
          </a:p>
          <a:p>
            <a:pPr algn="l">
              <a:spcAft>
                <a:spcPts val="0"/>
              </a:spcAft>
            </a:pPr>
            <a:r>
              <a:rPr sz="700" b="0">
                <a:solidFill>
                  <a:srgbClr val="BBBBBB"/>
                </a:solidFill>
              </a:rPr>
              <a:t/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18320" y="3383280"/>
            <a:ext cx="1737360" cy="731520"/>
          </a:xfrm>
          <a:prstGeom prst="roundRect">
            <a:avLst/>
          </a:prstGeom>
          <a:solidFill>
            <a:srgbClr val="008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3456432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FFFFFF"/>
                </a:solidFill>
              </a:rPr>
              <a:t>Deploy +
Report</a:t>
            </a:r>
          </a:p>
          <a:p>
            <a:pPr algn="l">
              <a:spcAft>
                <a:spcPts val="0"/>
              </a:spcAft>
            </a:pPr>
            <a:r>
              <a:rPr sz="700" b="0">
                <a:solidFill>
                  <a:srgbClr val="BBBBBB"/>
                </a:solidFill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7548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88888"/>
                </a:solidFill>
              </a:rPr>
              <a:t>Technology Stack:  GitHub Actions • JSON Schema • Python • Behave • Gherkin • Helm • Kubernetes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88888"/>
                </a:solidFill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D1B2A"/>
                </a:solidFill>
              </a:rPr>
              <a:t>Cyber: Supply Chain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</a:rPr>
              <a:t>Every container image is scanned for known vulnerabilities before deployment. A full Software Bill of Materials is generated on every build.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D1B2A"/>
                </a:solidFill>
              </a:rPr>
              <a:t>Automated Scanning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303520" cy="502920"/>
          </a:xfrm>
          <a:prstGeom prst="round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745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Container Image</a:t>
            </a:r>
            <a:r>
              <a:rPr sz="800" b="0">
                <a:solidFill>
                  <a:srgbClr val="BBBBBB"/>
                </a:solidFill>
              </a:rPr>
              <a:t>  —  Product containers built by CI/CD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95728"/>
            <a:ext cx="5303520" cy="502920"/>
          </a:xfrm>
          <a:prstGeom prst="roundRect">
            <a:avLst/>
          </a:prstGeom>
          <a:solidFill>
            <a:srgbClr val="00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4144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Syft → SBOM</a:t>
            </a:r>
            <a:r>
              <a:rPr sz="800" b="0">
                <a:solidFill>
                  <a:srgbClr val="BBBBBB"/>
                </a:solidFill>
              </a:rPr>
              <a:t>  —  Generates CycloneDX Software Bill of Materials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62656"/>
            <a:ext cx="5303520" cy="502920"/>
          </a:xfrm>
          <a:prstGeom prst="roundRect">
            <a:avLst/>
          </a:prstGeom>
          <a:solidFill>
            <a:srgbClr val="008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00837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Grype → Scan</a:t>
            </a:r>
            <a:r>
              <a:rPr sz="800" b="0">
                <a:solidFill>
                  <a:srgbClr val="BBBBBB"/>
                </a:solidFill>
              </a:rPr>
              <a:t>  —  Scans SBOM against known vulnerability databases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529584"/>
            <a:ext cx="5303520" cy="502920"/>
          </a:xfrm>
          <a:prstGeom prst="roundRect">
            <a:avLst/>
          </a:prstGeom>
          <a:solidFill>
            <a:srgbClr val="004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575304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Policy Gate</a:t>
            </a:r>
            <a:r>
              <a:rPr sz="800" b="0">
                <a:solidFill>
                  <a:srgbClr val="BBBBBB"/>
                </a:solidFill>
              </a:rPr>
              <a:t>  —  PASS / WARNING / FAIL based on severity thresholds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D1B2A"/>
                </a:solidFill>
              </a:rPr>
              <a:t>What Gets Produced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69B0"/>
                </a:solidFill>
              </a:rPr>
              <a:t>SBOM (CycloneDX)</a:t>
            </a:r>
            <a:r>
              <a:rPr sz="900" b="0">
                <a:solidFill>
                  <a:srgbClr val="555555"/>
                </a:solidFill>
              </a:rPr>
              <a:t>  —  Complete component inventory with versions and sources.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194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69B0"/>
                </a:solidFill>
              </a:rPr>
              <a:t>Vulnerability Report</a:t>
            </a:r>
            <a:r>
              <a:rPr sz="900" b="0">
                <a:solidFill>
                  <a:srgbClr val="555555"/>
                </a:solidFill>
              </a:rPr>
              <a:t>  —  CVE-level findings with severity and fix availability.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669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69B0"/>
                </a:solidFill>
              </a:rPr>
              <a:t>Policy Verdict</a:t>
            </a:r>
            <a:r>
              <a:rPr sz="900" b="0">
                <a:solidFill>
                  <a:srgbClr val="555555"/>
                </a:solidFill>
              </a:rPr>
              <a:t>  —  Blocks deployment on Critical/High findings.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61441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69B0"/>
                </a:solidFill>
              </a:rPr>
              <a:t>Severity Dashboard</a:t>
            </a:r>
            <a:r>
              <a:rPr sz="900" b="0">
                <a:solidFill>
                  <a:srgbClr val="555555"/>
                </a:solidFill>
              </a:rPr>
              <a:t>  —  Visual breakdown in the Deployment Pipeline Report.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371600"/>
            <a:ext cx="5486400" cy="45720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5087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D1B2A"/>
                </a:solidFill>
              </a:rPr>
              <a:t>Why This Matters for Compliance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96596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69B0"/>
                </a:solidFill>
              </a:rPr>
              <a:t>Executive Order 14028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</a:rPr>
              <a:t>Federal mandate requiring SBOMs for all software sold to the government.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60604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69B0"/>
                </a:solidFill>
              </a:rPr>
              <a:t>NIST SP 800-218 (SSDF)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</a:rPr>
              <a:t>Requires vulnerability scanning and remediation tracking per build.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24612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69B0"/>
                </a:solidFill>
              </a:rPr>
              <a:t>Supply Chain Transparency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</a:rPr>
              <a:t>Every component inventoried with name, version, type, and package URL.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8862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69B0"/>
                </a:solidFill>
              </a:rPr>
              <a:t>Audit-Ready Evidence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</a:rPr>
              <a:t>SBOM + scan results included in evidence bundle. No manual assembly.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52628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69B0"/>
                </a:solidFill>
              </a:rPr>
              <a:t>Air-Gapped Compatible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</a:rPr>
              <a:t>Grype DB mirrored internally. Syft runs against local images. No internet.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6126480"/>
            <a:ext cx="11247120" cy="36576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00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1722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D1B2A"/>
                </a:solidFill>
              </a:rPr>
              <a:t>Every build produces a complete SBOM and vulnerability scan — no manual steps, no gaps, always current.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88888"/>
                </a:solidFill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0D1B2A"/>
                </a:solidFill>
              </a:rPr>
              <a:t>Traceability &amp; Audit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</a:rPr>
              <a:t>Every pipeline run produces a complete, machine-generated evidence chain — no manual assembly required.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2011680" cy="777240"/>
          </a:xfrm>
          <a:prstGeom prst="roundRect">
            <a:avLst/>
          </a:prstGeom>
          <a:solidFill>
            <a:srgbClr val="00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27632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FFFFFF"/>
                </a:solidFill>
              </a:rPr>
              <a:t>Requirement
in Cameo</a:t>
            </a:r>
          </a:p>
          <a:p>
            <a:pPr algn="l">
              <a:spcAft>
                <a:spcPts val="0"/>
              </a:spcAft>
            </a:pPr>
            <a:r>
              <a:rPr sz="700" b="0">
                <a:solidFill>
                  <a:srgbClr val="BBBBBB"/>
                </a:solidFill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1554480"/>
            <a:ext cx="2011680" cy="777240"/>
          </a:xfrm>
          <a:prstGeom prst="roundRect">
            <a:avLst/>
          </a:prstGeom>
          <a:solidFill>
            <a:srgbClr val="004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1627632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FFFFFF"/>
                </a:solidFill>
              </a:rPr>
              <a:t>Verification
Criteria (VC)</a:t>
            </a:r>
          </a:p>
          <a:p>
            <a:pPr algn="l">
              <a:spcAft>
                <a:spcPts val="0"/>
              </a:spcAft>
            </a:pPr>
            <a:r>
              <a:rPr sz="700" b="0">
                <a:solidFill>
                  <a:srgbClr val="BBBBBB"/>
                </a:solidFill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554480"/>
            <a:ext cx="2011680" cy="777240"/>
          </a:xfrm>
          <a:prstGeom prst="roundRect">
            <a:avLst/>
          </a:prstGeom>
          <a:solidFill>
            <a:srgbClr val="00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627632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FFFFFF"/>
                </a:solidFill>
              </a:rPr>
              <a:t>Gherkin
Scenario</a:t>
            </a:r>
          </a:p>
          <a:p>
            <a:pPr algn="l">
              <a:spcAft>
                <a:spcPts val="0"/>
              </a:spcAft>
            </a:pPr>
            <a:r>
              <a:rPr sz="700" b="0">
                <a:solidFill>
                  <a:srgbClr val="BBBBBB"/>
                </a:solidFill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1554480"/>
            <a:ext cx="2011680" cy="777240"/>
          </a:xfrm>
          <a:prstGeom prst="roundRect">
            <a:avLst/>
          </a:prstGeom>
          <a:solidFill>
            <a:srgbClr val="008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1627632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FFFFFF"/>
                </a:solidFill>
              </a:rPr>
              <a:t>BDD Test
Result</a:t>
            </a:r>
          </a:p>
          <a:p>
            <a:pPr algn="l">
              <a:spcAft>
                <a:spcPts val="0"/>
              </a:spcAft>
            </a:pPr>
            <a:r>
              <a:rPr sz="700" b="0">
                <a:solidFill>
                  <a:srgbClr val="BBBBBB"/>
                </a:solidFill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554480"/>
            <a:ext cx="2011680" cy="777240"/>
          </a:xfrm>
          <a:prstGeom prst="roundRect">
            <a:avLst/>
          </a:prstGeom>
          <a:solidFill>
            <a:srgbClr val="009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1627632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FFFFFF"/>
                </a:solidFill>
              </a:rPr>
              <a:t>Deployment
Pipeline Report</a:t>
            </a:r>
          </a:p>
          <a:p>
            <a:pPr algn="l">
              <a:spcAft>
                <a:spcPts val="0"/>
              </a:spcAft>
            </a:pPr>
            <a:r>
              <a:rPr sz="700" b="0">
                <a:solidFill>
                  <a:srgbClr val="BBBBBB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43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D1B2A"/>
                </a:solidFill>
              </a:rPr>
              <a:t>What This Means for Compliance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004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D1B2A"/>
                </a:solidFill>
              </a:rPr>
              <a:t>Minutes, Not Weeks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</a:rPr>
              <a:t>Traceability report is generated on every commit — always current, always complete.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148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D1B2A"/>
                </a:solidFill>
              </a:rPr>
              <a:t>Every Change Tracked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</a:rPr>
              <a:t>Git history + baseline diffs show exactly when requirements changed and who acknowledged them.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292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D1B2A"/>
                </a:solidFill>
              </a:rPr>
              <a:t>No Missing Tests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</a:rPr>
              <a:t>Gate A ensures every verification criteria has coverage — gaps are caught before merge.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2004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D1B2A"/>
                </a:solidFill>
              </a:rPr>
              <a:t>No Stale Tests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</a:rPr>
              <a:t>Gate B detects criteria drift — existing tests are flagged for re-review when requirements change.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1148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D1B2A"/>
                </a:solidFill>
              </a:rPr>
              <a:t>No Ghost Tests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</a:rPr>
              <a:t>Gate C catches orphaned tests — scenarios for deleted requirements are flagged for removal.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0292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D1B2A"/>
                </a:solidFill>
              </a:rPr>
              <a:t>Immutable Evidence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55555"/>
                </a:solidFill>
              </a:rPr>
              <a:t>CI artifacts (HTML + JSON reports) are stored per build — reproducible audit trail.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88888"/>
                </a:solidFill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0099D6"/>
                </a:solidFill>
              </a:rPr>
              <a:t>Reduce Risk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BBBBBB"/>
                </a:solidFill>
              </a:rPr>
              <a:t>Every requirement is verified before deployment. No gaps, no surprises. Quality gates catch problems early.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59" y="25603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0099D6"/>
                </a:solidFill>
              </a:rPr>
              <a:t>Accelerate Delivery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BBBBBB"/>
                </a:solidFill>
              </a:rPr>
              <a:t>Automated traceability eliminates weeks of manual evidence assembly. CI/CD runs on every commit.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5603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0099D6"/>
                </a:solidFill>
              </a:rPr>
              <a:t>Ensure Compliance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BBBBBB"/>
                </a:solidFill>
              </a:rPr>
              <a:t>Machine-generated audit trail from model to deployment. Immutable, reproducible, always current.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One pipeline.  Model to deployment.  Full traceability.  Every commit.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5394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0099D6"/>
                </a:solidFill>
              </a:rPr>
              <a:t>Questions?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88888"/>
                </a:solidFill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