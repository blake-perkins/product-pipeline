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media/tech_grid.png" ContentType="image/png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2" r:id="rId13"/>
    <p:sldId id="263" r:id="rId14"/>
    <p:sldId id="264" r:id="rId15"/>
    <p:sldId id="265" r:id="rId16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tech_grid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tech_grid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1" name="TechGr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Model-Based Systems Engineering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ECF0F1"/>
                </a:solidFill>
                <a:latin typeface="Calibri"/>
              </a:defRPr>
            </a:pPr>
            <a:r>
              <a:t>From Requirements to Deployed Product — Automated, Traceable,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931920"/>
            <a:ext cx="4572000" cy="25400"/>
          </a:xfrm>
          <a:prstGeom prst="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546E7A"/>
                </a:solidFill>
                <a:latin typeface="Calibri"/>
              </a:defRPr>
            </a:pPr>
            <a: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0D1B2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539240"/>
            <a:ext cx="164592" cy="164592"/>
          </a:xfrm>
          <a:prstGeom prst="ellipse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3A4A"/>
                </a:solidFill>
                <a:latin typeface="Calibri"/>
              </a:defRPr>
            </a:pPr>
            <a:r>
              <a:t>Disconnected Toolchains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Requirements live in Cameo, tests in separate repos, deployment in Helm — no single thread connects them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499360"/>
            <a:ext cx="164592" cy="164592"/>
          </a:xfrm>
          <a:prstGeom prst="ellipse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3A4A"/>
                </a:solidFill>
                <a:latin typeface="Calibri"/>
              </a:defRPr>
            </a:pPr>
            <a:r>
              <a:t>Manual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Compliance evidence is assembled by hand before audits, risking gaps and stale data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59480"/>
            <a:ext cx="164592" cy="164592"/>
          </a:xfrm>
          <a:prstGeom prst="ellipse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3A4A"/>
                </a:solidFill>
                <a:latin typeface="Calibri"/>
              </a:defRPr>
            </a:pPr>
            <a:r>
              <a:t>Silent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When a requirement changes, existing tests may no longer match — but nobody is alerted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19600"/>
            <a:ext cx="164592" cy="164592"/>
          </a:xfrm>
          <a:prstGeom prst="ellipse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3A4A"/>
                </a:solidFill>
                <a:latin typeface="Calibri"/>
              </a:defRPr>
            </a:pPr>
            <a:r>
              <a:t>Verification Blind 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No systematic way to ensure every verification method has at least one test scenario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379720"/>
            <a:ext cx="164592" cy="164592"/>
          </a:xfrm>
          <a:prstGeom prst="ellipse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A3A4A"/>
                </a:solidFill>
                <a:latin typeface="Calibri"/>
              </a:defRPr>
            </a:pPr>
            <a:r>
              <a:t>Audit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23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Without machine-generated evidence, proving compliance requires weeks of manual artifact collection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46304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FA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73736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0D1B2A"/>
                </a:solidFill>
                <a:latin typeface="Calibri"/>
              </a:defRPr>
            </a:pPr>
            <a:r>
              <a:t>The Cost of the Status Quo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1A3A4A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•  Requirement changes go unnoticed by test teams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•  Audit prep takes weeks instead of minutes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•  No single source of truth across the lifecycle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•  Verification gaps discovered late in integration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A3A4A"/>
                </a:solidFill>
                <a:latin typeface="Calibri"/>
              </a:defRPr>
            </a:pP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We need an automated, traceable pipeline that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connects the model to the deployed product.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45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22" name="Oval 21"/>
          <p:cNvSpPr/>
          <p:nvPr/>
        </p:nvSpPr>
        <p:spPr>
          <a:xfrm>
            <a:off x="1290675" y="-73152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5877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2336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40683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05275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22595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87187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04507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69099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86419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5101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833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3292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0D1B2A"/>
                </a:solidFill>
                <a:latin typeface="Calibri"/>
              </a:defRPr>
            </a:pPr>
            <a:r>
              <a:t>Solution: End-to-End MBSE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546E7A"/>
                </a:solidFill>
                <a:latin typeface="Calibri"/>
              </a:defRPr>
            </a:pPr>
            <a:r>
              <a:t>A fully automated pipeline that transforms model-based requirements into verified, deployable software — with traceability at every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650000" cy="1280160"/>
          </a:xfrm>
          <a:prstGeom prst="roundRect">
            <a:avLst>
              <a:gd name="adj" fmla="val 10000"/>
            </a:avLst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Cameo Systems</a:t>
            </a:r>
            <a:br/>
            <a:r>
              <a:t>Modeler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65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Author requirements</a:t>
            </a:r>
            <a:br/>
            <a:r>
              <a:t>&amp; ICD in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2200" y="2560320"/>
            <a:ext cx="1650000" cy="1280160"/>
          </a:xfrm>
          <a:prstGeom prst="roundRect">
            <a:avLst>
              <a:gd name="adj" fmla="val 1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Schema</a:t>
            </a:r>
            <a:br/>
            <a: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2200" y="3931920"/>
            <a:ext cx="165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Validate exports</a:t>
            </a:r>
            <a:br/>
            <a:r>
              <a:t>against JSON schemas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200" y="2560320"/>
            <a:ext cx="1650000" cy="1280160"/>
          </a:xfrm>
          <a:prstGeom prst="roundRect">
            <a:avLst>
              <a:gd name="adj" fmla="val 10000"/>
            </a:avLst>
          </a:prstGeom>
          <a:solidFill>
            <a:srgbClr val="0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Artifact</a:t>
            </a:r>
            <a:br/>
            <a:r>
              <a:t>Packaging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7200" y="3931920"/>
            <a:ext cx="165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Version, package</a:t>
            </a:r>
            <a:br/>
            <a:r>
              <a:t>&amp; release to Nexus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2200" y="2560320"/>
            <a:ext cx="1650000" cy="1280160"/>
          </a:xfrm>
          <a:prstGeom prst="roundRect">
            <a:avLst>
              <a:gd name="adj" fmla="val 10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Traceability</a:t>
            </a:r>
            <a:br/>
            <a:r>
              <a:t>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2200" y="3931920"/>
            <a:ext cx="165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Coverage, drift &amp;</a:t>
            </a:r>
            <a:br/>
            <a:r>
              <a:t>orphan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7200" y="2560320"/>
            <a:ext cx="1650000" cy="1280160"/>
          </a:xfrm>
          <a:prstGeom prst="roundRect">
            <a:avLst>
              <a:gd name="adj" fmla="val 10000"/>
            </a:avLst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BDD</a:t>
            </a:r>
            <a:br/>
            <a:r>
              <a:t>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7200" y="3931920"/>
            <a:ext cx="165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Automated Gherkin</a:t>
            </a:r>
            <a:br/>
            <a:r>
              <a:t>log-analysis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82200" y="2560320"/>
            <a:ext cx="1650000" cy="1280160"/>
          </a:xfrm>
          <a:prstGeom prst="roundRect">
            <a:avLst>
              <a:gd name="adj" fmla="val 10000"/>
            </a:avLst>
          </a:prstGeom>
          <a:solidFill>
            <a:srgbClr val="0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2200" y="3931920"/>
            <a:ext cx="165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Helm chart deploy</a:t>
            </a:r>
            <a:br/>
            <a:r>
              <a:t>with evidence bundle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07200" y="3063240"/>
            <a:ext cx="2750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4032200" y="3063240"/>
            <a:ext cx="2750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957200" y="3063240"/>
            <a:ext cx="2750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882200" y="3063240"/>
            <a:ext cx="2750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9807200" y="3063240"/>
            <a:ext cx="2750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5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69B0"/>
                </a:solidFill>
                <a:latin typeface="Calibri"/>
              </a:defRPr>
            </a:pPr>
            <a:r>
              <a:t>REPO 1: cameo-model-pipeline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2200" y="4434840"/>
            <a:ext cx="555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99D6"/>
                </a:solidFill>
                <a:latin typeface="Calibri"/>
              </a:defRPr>
            </a:pPr>
            <a:r>
              <a:t>REPO 2: product-pipeline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880640"/>
            <a:ext cx="9144000" cy="1768320"/>
          </a:xfrm>
          <a:prstGeom prst="roundRect">
            <a:avLst>
              <a:gd name="adj" fmla="val 8000"/>
            </a:avLst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972080"/>
            <a:ext cx="859536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0D1B2A"/>
                </a:solidFill>
                <a:latin typeface="Calibri"/>
              </a:defRPr>
            </a:pPr>
            <a:r>
              <a:t xml:space="preserve">Key Principle:  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Every requirement in the Cameo model is automatically traced through verification methods, test scenarios, and test results — producing a complete, machine-generated evidence chain from model to deployment.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45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877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2336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9" name="Oval 28"/>
          <p:cNvSpPr/>
          <p:nvPr/>
        </p:nvSpPr>
        <p:spPr>
          <a:xfrm>
            <a:off x="2872587" y="-73152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40683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05275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22595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87187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04507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69099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86419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5101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833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13292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0D1B2A"/>
                </a:solidFill>
                <a:latin typeface="Calibri"/>
              </a:defRPr>
            </a:pPr>
            <a:r>
              <a:t>Integrated MBSE 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5075040"/>
          </a:xfrm>
          <a:prstGeom prst="roundRect">
            <a:avLst>
              <a:gd name="adj" fmla="val 3000"/>
            </a:avLst>
          </a:prstGeom>
          <a:solidFill>
            <a:srgbClr val="E8F4FB"/>
          </a:solidFill>
          <a:ln w="25400">
            <a:solidFill>
              <a:srgbClr val="00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69B0"/>
                </a:solidFill>
                <a:latin typeface="Calibri"/>
              </a:defRPr>
            </a:pPr>
            <a:r>
              <a:t>Repo 1: cameo-model-pipeline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Owned by: Systems Engineers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Cameo model drives requirements and ICD exports. Artifacts are schema-validated, proto-generated, packaged, and published via GitHub Releases.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03520" cy="5075040"/>
          </a:xfrm>
          <a:prstGeom prst="roundRect">
            <a:avLst>
              <a:gd name="adj" fmla="val 3000"/>
            </a:avLst>
          </a:prstGeom>
          <a:solidFill>
            <a:srgbClr val="EAFAEA"/>
          </a:solidFill>
          <a:ln w="25400">
            <a:solidFill>
              <a:srgbClr val="009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099D6"/>
                </a:solidFill>
                <a:latin typeface="Calibri"/>
              </a:defRPr>
            </a:pPr>
            <a:r>
              <a:t>Repo 2: product-pipeline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Owned by: Developers + Systems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51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Consumes versioned model artifacts. Quality gates enforce coverage, drift, and orphan checks before BDD log-analysis tests execute and Helm deploys.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60720" y="3474720"/>
            <a:ext cx="640080" cy="548640"/>
          </a:xfrm>
          <a:prstGeom prst="rightArrow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1148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D1B2A"/>
                </a:solidFill>
                <a:latin typeface="Calibri"/>
              </a:defRPr>
            </a:pPr>
            <a:r>
              <a:t>Versioned</a:t>
            </a:r>
            <a:br/>
            <a:r>
              <a:t>Artifact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45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877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2336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7" name="Oval 16"/>
          <p:cNvSpPr/>
          <p:nvPr/>
        </p:nvSpPr>
        <p:spPr>
          <a:xfrm>
            <a:off x="2872587" y="-73152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40683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05275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2595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87187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04507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69099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6419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5101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833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3292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200" name="Label 200"/>
          <p:cNvSpPr txBox="1"/>
          <p:nvPr/>
        </p:nvSpPr>
        <p:spPr>
          <a:xfrm>
            <a:off x="931520" y="3970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69B0"/>
                </a:solidFill>
                <a:latin typeface="Calibri"/>
              </a:defRPr>
            </a:pPr>
            <a:r>
              <a:t>Tool Stack</a:t>
            </a:r>
          </a:p>
        </p:txBody>
      </p:sp>
      <p:sp>
        <p:nvSpPr>
          <p:cNvPr id="201" name="Badge 201"/>
          <p:cNvSpPr/>
          <p:nvPr/>
        </p:nvSpPr>
        <p:spPr>
          <a:xfrm>
            <a:off x="931520" y="435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Cameo Systems Modeler</a:t>
            </a:r>
          </a:p>
        </p:txBody>
      </p:sp>
      <p:sp>
        <p:nvSpPr>
          <p:cNvPr id="202" name="Badge 202"/>
          <p:cNvSpPr/>
          <p:nvPr/>
        </p:nvSpPr>
        <p:spPr>
          <a:xfrm>
            <a:off x="3208960" y="435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Groovy</a:t>
            </a:r>
          </a:p>
        </p:txBody>
      </p:sp>
      <p:sp>
        <p:nvSpPr>
          <p:cNvPr id="203" name="Badge 203"/>
          <p:cNvSpPr/>
          <p:nvPr/>
        </p:nvSpPr>
        <p:spPr>
          <a:xfrm>
            <a:off x="931520" y="493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JSON Schema</a:t>
            </a:r>
          </a:p>
        </p:txBody>
      </p:sp>
      <p:sp>
        <p:nvSpPr>
          <p:cNvPr id="204" name="Badge 204"/>
          <p:cNvSpPr/>
          <p:nvPr/>
        </p:nvSpPr>
        <p:spPr>
          <a:xfrm>
            <a:off x="3208960" y="493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Protocol Buffers</a:t>
            </a:r>
          </a:p>
        </p:txBody>
      </p:sp>
      <p:sp>
        <p:nvSpPr>
          <p:cNvPr id="205" name="Badge 205"/>
          <p:cNvSpPr/>
          <p:nvPr/>
        </p:nvSpPr>
        <p:spPr>
          <a:xfrm>
            <a:off x="931520" y="551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GitHub Releases</a:t>
            </a:r>
          </a:p>
        </p:txBody>
      </p:sp>
      <p:sp>
        <p:nvSpPr>
          <p:cNvPr id="206" name="Badge 206"/>
          <p:cNvSpPr/>
          <p:nvPr/>
        </p:nvSpPr>
        <p:spPr>
          <a:xfrm>
            <a:off x="3208960" y="551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210" name="Label 210"/>
          <p:cNvSpPr txBox="1"/>
          <p:nvPr/>
        </p:nvSpPr>
        <p:spPr>
          <a:xfrm>
            <a:off x="6875120" y="3970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099D6"/>
                </a:solidFill>
                <a:latin typeface="Calibri"/>
              </a:defRPr>
            </a:pPr>
            <a:r>
              <a:t>Tool Stack</a:t>
            </a:r>
          </a:p>
        </p:txBody>
      </p:sp>
      <p:sp>
        <p:nvSpPr>
          <p:cNvPr id="211" name="Badge 211"/>
          <p:cNvSpPr/>
          <p:nvPr/>
        </p:nvSpPr>
        <p:spPr>
          <a:xfrm>
            <a:off x="6875120" y="435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212" name="Badge 212"/>
          <p:cNvSpPr/>
          <p:nvPr/>
        </p:nvSpPr>
        <p:spPr>
          <a:xfrm>
            <a:off x="9152560" y="435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Behave</a:t>
            </a:r>
          </a:p>
        </p:txBody>
      </p:sp>
      <p:sp>
        <p:nvSpPr>
          <p:cNvPr id="213" name="Badge 213"/>
          <p:cNvSpPr/>
          <p:nvPr/>
        </p:nvSpPr>
        <p:spPr>
          <a:xfrm>
            <a:off x="6875120" y="493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Gherkin</a:t>
            </a:r>
          </a:p>
        </p:txBody>
      </p:sp>
      <p:sp>
        <p:nvSpPr>
          <p:cNvPr id="214" name="Badge 214"/>
          <p:cNvSpPr/>
          <p:nvPr/>
        </p:nvSpPr>
        <p:spPr>
          <a:xfrm>
            <a:off x="9152560" y="493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Helm</a:t>
            </a:r>
          </a:p>
        </p:txBody>
      </p:sp>
      <p:sp>
        <p:nvSpPr>
          <p:cNvPr id="215" name="Badge 215"/>
          <p:cNvSpPr/>
          <p:nvPr/>
        </p:nvSpPr>
        <p:spPr>
          <a:xfrm>
            <a:off x="6875120" y="551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  <p:sp>
        <p:nvSpPr>
          <p:cNvPr id="216" name="Badge 216"/>
          <p:cNvSpPr/>
          <p:nvPr/>
        </p:nvSpPr>
        <p:spPr>
          <a:xfrm>
            <a:off x="9152560" y="5510000"/>
            <a:ext cx="2077440" cy="400000"/>
          </a:xfrm>
          <a:prstGeom prst="roundRect">
            <a:avLst>
              <a:gd name="adj" fmla="val 15000"/>
            </a:avLst>
          </a:prstGeom>
          <a:solidFill>
            <a:srgbClr val="0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0D1B2A"/>
                </a:solidFill>
                <a:latin typeface="Calibri"/>
              </a:defRPr>
            </a:pPr>
            <a:r>
              <a:t>Three Quality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546E7A"/>
                </a:solidFill>
                <a:latin typeface="Calibri"/>
              </a:defRPr>
            </a:pPr>
            <a:r>
              <a:t>Automated checks that run on every commit — the pipeline will not proceed until all gates pass.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438912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25400">
            <a:solidFill>
              <a:srgbClr val="00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3291840" cy="640080"/>
          </a:xfrm>
          <a:prstGeom prst="roundRect">
            <a:avLst>
              <a:gd name="adj" fmla="val 15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Gate A: Coverage Check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022600"/>
            <a:ext cx="109728" cy="109728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Ensures every verification method has at least one Gherkin scenario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99840"/>
            <a:ext cx="109728" cy="109728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49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Generates stub feature files for uncovered VMs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577080"/>
            <a:ext cx="109728" cy="109728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Advisory: stubs signal work needed, pipeline continues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354320"/>
            <a:ext cx="109728" cy="109728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03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Prevents requirements from reaching deployment without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011680"/>
            <a:ext cx="3566160" cy="438912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25400">
            <a:solidFill>
              <a:srgbClr val="008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2148840"/>
            <a:ext cx="3291840" cy="640080"/>
          </a:xfrm>
          <a:prstGeom prst="roundRect">
            <a:avLst>
              <a:gd name="adj" fmla="val 15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Gate B: Drift Detection</a:t>
            </a:r>
          </a:p>
        </p:txBody>
      </p:sp>
      <p:sp>
        <p:nvSpPr>
          <p:cNvPr id="17" name="Oval 16"/>
          <p:cNvSpPr/>
          <p:nvPr/>
        </p:nvSpPr>
        <p:spPr>
          <a:xfrm>
            <a:off x="4526280" y="3022600"/>
            <a:ext cx="109728" cy="109728"/>
          </a:xfrm>
          <a:prstGeom prst="ellipse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971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Detects when requirement criteria text changes</a:t>
            </a:r>
          </a:p>
        </p:txBody>
      </p:sp>
      <p:sp>
        <p:nvSpPr>
          <p:cNvPr id="19" name="Oval 18"/>
          <p:cNvSpPr/>
          <p:nvPr/>
        </p:nvSpPr>
        <p:spPr>
          <a:xfrm>
            <a:off x="4526280" y="3799840"/>
            <a:ext cx="109728" cy="109728"/>
          </a:xfrm>
          <a:prstGeom prst="ellipse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749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Compares SHA-256 hash of criteria against baseline</a:t>
            </a:r>
          </a:p>
        </p:txBody>
      </p:sp>
      <p:sp>
        <p:nvSpPr>
          <p:cNvPr id="21" name="Oval 20"/>
          <p:cNvSpPr/>
          <p:nvPr/>
        </p:nvSpPr>
        <p:spPr>
          <a:xfrm>
            <a:off x="4526280" y="4577080"/>
            <a:ext cx="109728" cy="109728"/>
          </a:xfrm>
          <a:prstGeom prst="ellipse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526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Injects @REVIEW_REQUIRED tag into affected features</a:t>
            </a:r>
          </a:p>
        </p:txBody>
      </p:sp>
      <p:sp>
        <p:nvSpPr>
          <p:cNvPr id="23" name="Oval 22"/>
          <p:cNvSpPr/>
          <p:nvPr/>
        </p:nvSpPr>
        <p:spPr>
          <a:xfrm>
            <a:off x="4526280" y="5354320"/>
            <a:ext cx="109728" cy="109728"/>
          </a:xfrm>
          <a:prstGeom prst="ellipse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5303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Fails the pipeline — forces developer to review &amp; acknowledge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011680"/>
            <a:ext cx="3566160" cy="438912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25400">
            <a:solidFill>
              <a:srgbClr val="004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3880" y="2148840"/>
            <a:ext cx="3291840" cy="640080"/>
          </a:xfrm>
          <a:prstGeom prst="roundRect">
            <a:avLst>
              <a:gd name="adj" fmla="val 15000"/>
            </a:avLst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Gate C: Orphan Detection</a:t>
            </a:r>
          </a:p>
        </p:txBody>
      </p:sp>
      <p:sp>
        <p:nvSpPr>
          <p:cNvPr id="27" name="Oval 26"/>
          <p:cNvSpPr/>
          <p:nvPr/>
        </p:nvSpPr>
        <p:spPr>
          <a:xfrm>
            <a:off x="8321040" y="3022600"/>
            <a:ext cx="109728" cy="109728"/>
          </a:xfrm>
          <a:prstGeom prst="ellipse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971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Finds test scenarios referencing non-existent requirements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3799840"/>
            <a:ext cx="109728" cy="109728"/>
          </a:xfrm>
          <a:prstGeom prst="ellipse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3749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Catches both orphaned @REQ: and @VM: tags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4577080"/>
            <a:ext cx="109728" cy="109728"/>
          </a:xfrm>
          <a:prstGeom prst="ellipse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526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Fails the pipeline — prevents tests for deleted requirements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5354320"/>
            <a:ext cx="109728" cy="109728"/>
          </a:xfrm>
          <a:prstGeom prst="ellipse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53035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A3A4A"/>
                </a:solidFill>
                <a:latin typeface="Calibri"/>
              </a:defRPr>
            </a:pPr>
            <a:r>
              <a:t>Ensures test suite stays in sync with the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45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877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2336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40683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05275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40" name="Oval 39"/>
          <p:cNvSpPr/>
          <p:nvPr/>
        </p:nvSpPr>
        <p:spPr>
          <a:xfrm>
            <a:off x="4454499" y="-73152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22595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87187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04507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69099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86419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5101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6833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13292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0D1B2A"/>
                </a:solidFill>
                <a:latin typeface="Calibri"/>
              </a:defRPr>
            </a:pPr>
            <a:r>
              <a:t>Collaborative Test Authoring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546E7A"/>
                </a:solidFill>
                <a:latin typeface="Calibri"/>
              </a:defRPr>
            </a:pPr>
            <a:r>
              <a:t>Systems engineers and developers work together — SEs define what to verify, developers implement how.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E8F4FB"/>
          </a:solidFill>
          <a:ln w="25400">
            <a:solidFill>
              <a:srgbClr val="00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0069B0"/>
                </a:solidFill>
                <a:latin typeface="Calibri"/>
              </a:defRPr>
            </a:pPr>
            <a:r>
              <a:t>Systems Engineers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3057"/>
                </a:solidFill>
                <a:latin typeface="Calibri"/>
              </a:defRPr>
            </a:pPr>
            <a:r>
              <a:t>Own the WHAT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172460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Author requirements &amp; verification methods in Cameo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675380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Define Gherkin Features and Scenarios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78300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Write Given / When / Then specifications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681220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Ensure scenarios satisfy the intent of each VM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1168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EAFAEA"/>
          </a:solidFill>
          <a:ln w="25400">
            <a:solidFill>
              <a:srgbClr val="009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0099D6"/>
                </a:solidFill>
                <a:latin typeface="Calibri"/>
              </a:defRPr>
            </a:pPr>
            <a:r>
              <a:t>Software Developers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3057"/>
                </a:solidFill>
                <a:latin typeface="Calibri"/>
              </a:defRPr>
            </a:pPr>
            <a:r>
              <a:t>Own the HOW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3172460"/>
            <a:ext cx="118872" cy="118872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Implement step definitions (Python code behind steps)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3675380"/>
            <a:ext cx="118872" cy="118872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611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Build log-analysis assertions against system output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4178300"/>
            <a:ext cx="118872" cy="118872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Maintain BDD test infrastructure &amp; helpers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4681220"/>
            <a:ext cx="118872" cy="118872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4617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A3A4A"/>
                </a:solidFill>
                <a:latin typeface="Calibri"/>
              </a:defRPr>
            </a:pPr>
            <a:r>
              <a:t>Write product application code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45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877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2336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40683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05275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22595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87187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42" name="Oval 41"/>
          <p:cNvSpPr/>
          <p:nvPr/>
        </p:nvSpPr>
        <p:spPr>
          <a:xfrm>
            <a:off x="6036411" y="-73152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04507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69099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86419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5101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6833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13292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300" name="Label 300"/>
          <p:cNvSpPr txBox="1"/>
          <p:nvPr/>
        </p:nvSpPr>
        <p:spPr>
          <a:xfrm>
            <a:off x="1031520" y="5370000"/>
            <a:ext cx="43548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69B0"/>
                </a:solidFill>
                <a:latin typeface="Calibri"/>
              </a:defRPr>
            </a:pPr>
            <a:r>
              <a:t>Tool Stack</a:t>
            </a:r>
          </a:p>
        </p:txBody>
      </p:sp>
      <p:sp>
        <p:nvSpPr>
          <p:cNvPr id="301" name="Badge 301"/>
          <p:cNvSpPr/>
          <p:nvPr/>
        </p:nvSpPr>
        <p:spPr>
          <a:xfrm>
            <a:off x="1031520" y="5720000"/>
            <a:ext cx="2100000" cy="370000"/>
          </a:xfrm>
          <a:prstGeom prst="roundRect">
            <a:avLst>
              <a:gd name="adj" fmla="val 15000"/>
            </a:avLst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Cameo Systems Modeler</a:t>
            </a:r>
          </a:p>
        </p:txBody>
      </p:sp>
      <p:sp>
        <p:nvSpPr>
          <p:cNvPr id="302" name="Badge 302"/>
          <p:cNvSpPr/>
          <p:nvPr/>
        </p:nvSpPr>
        <p:spPr>
          <a:xfrm>
            <a:off x="3331520" y="5720000"/>
            <a:ext cx="2100000" cy="370000"/>
          </a:xfrm>
          <a:prstGeom prst="roundRect">
            <a:avLst>
              <a:gd name="adj" fmla="val 15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Gherkin (.feature)</a:t>
            </a:r>
          </a:p>
        </p:txBody>
      </p:sp>
      <p:sp>
        <p:nvSpPr>
          <p:cNvPr id="310" name="Label 310"/>
          <p:cNvSpPr txBox="1"/>
          <p:nvPr/>
        </p:nvSpPr>
        <p:spPr>
          <a:xfrm>
            <a:off x="6975120" y="4990000"/>
            <a:ext cx="43548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99D6"/>
                </a:solidFill>
                <a:latin typeface="Calibri"/>
              </a:defRPr>
            </a:pPr>
            <a:r>
              <a:t>Tool Stack</a:t>
            </a:r>
          </a:p>
        </p:txBody>
      </p:sp>
      <p:sp>
        <p:nvSpPr>
          <p:cNvPr id="311" name="Badge 311"/>
          <p:cNvSpPr/>
          <p:nvPr/>
        </p:nvSpPr>
        <p:spPr>
          <a:xfrm>
            <a:off x="6975120" y="5340000"/>
            <a:ext cx="2100000" cy="370000"/>
          </a:xfrm>
          <a:prstGeom prst="roundRect">
            <a:avLst>
              <a:gd name="adj" fmla="val 15000"/>
            </a:avLst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312" name="Badge 312"/>
          <p:cNvSpPr/>
          <p:nvPr/>
        </p:nvSpPr>
        <p:spPr>
          <a:xfrm>
            <a:off x="9275120" y="5340000"/>
            <a:ext cx="2100000" cy="370000"/>
          </a:xfrm>
          <a:prstGeom prst="roundRect">
            <a:avLst>
              <a:gd name="adj" fmla="val 15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Behave</a:t>
            </a:r>
          </a:p>
        </p:txBody>
      </p:sp>
      <p:sp>
        <p:nvSpPr>
          <p:cNvPr id="313" name="Badge 313"/>
          <p:cNvSpPr/>
          <p:nvPr/>
        </p:nvSpPr>
        <p:spPr>
          <a:xfrm>
            <a:off x="6975120" y="5870000"/>
            <a:ext cx="2100000" cy="370000"/>
          </a:xfrm>
          <a:prstGeom prst="roundRect">
            <a:avLst>
              <a:gd name="adj" fmla="val 15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Helm</a:t>
            </a:r>
          </a:p>
        </p:txBody>
      </p:sp>
      <p:sp>
        <p:nvSpPr>
          <p:cNvPr id="314" name="Badge 314"/>
          <p:cNvSpPr/>
          <p:nvPr/>
        </p:nvSpPr>
        <p:spPr>
          <a:xfrm>
            <a:off x="9275120" y="5870000"/>
            <a:ext cx="2100000" cy="370000"/>
          </a:xfrm>
          <a:prstGeom prst="roundRect">
            <a:avLst>
              <a:gd name="adj" fmla="val 15000"/>
            </a:avLst>
          </a:prstGeom>
          <a:solidFill>
            <a:srgbClr val="0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Gherkin Specification &amp; Tag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ECF0F1"/>
                </a:solidFill>
                <a:latin typeface="Calibri"/>
              </a:defRPr>
            </a:pPr>
            <a:r>
              <a:t>Tags create the machine-readable traceability link between requirements and test scenarios.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217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56B6C2"/>
                </a:solidFill>
                <a:latin typeface="Consolas"/>
              </a:defRPr>
            </a:pPr>
            <a:r>
              <a:t>@REQ:SYS-REQ-001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E0E0E0"/>
                </a:solidFill>
                <a:latin typeface="Consolas"/>
              </a:defRPr>
            </a:pPr>
            <a:r>
              <a:t>Feature: Basic ICD Communications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E5C07B"/>
                </a:solidFill>
                <a:latin typeface="Consolas"/>
              </a:defRPr>
            </a:pPr>
            <a:r>
              <a:t xml:space="preserve">  @VM:SYS-REQ-001-VM-01 @VER:Test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Consolas"/>
              </a:defRPr>
            </a:pPr>
            <a:r>
              <a:t xml:space="preserve">  Scenario: Valid ICD produces correct response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98C379"/>
                </a:solidFill>
                <a:latin typeface="Consolas"/>
              </a:defRPr>
            </a:pPr>
            <a:r>
              <a:t xml:space="preserve">    Given the simulation logs are loaded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98C379"/>
                </a:solidFill>
                <a:latin typeface="Consolas"/>
              </a:defRPr>
            </a:pPr>
            <a:r>
              <a:t xml:space="preserve">    Then the product logs should contain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CE9178"/>
                </a:solidFill>
                <a:latin typeface="Consolas"/>
              </a:defRPr>
            </a:pPr>
            <a:r>
              <a:t xml:space="preserve">         "Received IcdRequest: test-001"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E5C07B"/>
                </a:solidFill>
                <a:latin typeface="Consolas"/>
              </a:defRPr>
            </a:pPr>
            <a:r>
              <a:t xml:space="preserve">  @VM:SYS-REQ-001-VM-02 @VER:Demonstration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Consolas"/>
              </a:defRPr>
            </a:pPr>
            <a:r>
              <a:t xml:space="preserve">  Scenario: Demonstrate round-trip ICD exchange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98C379"/>
                </a:solidFill>
                <a:latin typeface="Consolas"/>
              </a:defRPr>
            </a:pPr>
            <a:r>
              <a:t xml:space="preserve">    Given the simulation logs are loaded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98C379"/>
                </a:solidFill>
                <a:latin typeface="Consolas"/>
              </a:defRPr>
            </a:pPr>
            <a:r>
              <a:t xml:space="preserve">    Then the simulator log should contain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CE9178"/>
                </a:solidFill>
                <a:latin typeface="Consolas"/>
              </a:defRPr>
            </a:pPr>
            <a:r>
              <a:t xml:space="preserve">         "IcdResponse received with status OK"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Tag 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377440"/>
            <a:ext cx="3840480" cy="777240"/>
          </a:xfrm>
          <a:prstGeom prst="roundRect">
            <a:avLst>
              <a:gd name="adj" fmla="val 10000"/>
            </a:avLst>
          </a:prstGeom>
          <a:solidFill>
            <a:srgbClr val="1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56B6C2"/>
                </a:solidFill>
                <a:latin typeface="Consolas"/>
              </a:defRPr>
            </a:pPr>
            <a:r>
              <a:t>@REQ:SYS-REQ-001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697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CF0F1"/>
                </a:solidFill>
                <a:latin typeface="Calibri"/>
              </a:defRPr>
            </a:pPr>
            <a:r>
              <a:t>Links to requirement ID</a:t>
            </a:r>
            <a:br/>
            <a:r>
              <a:t>Placed at Feature level</a:t>
            </a:r>
            <a:br/>
            <a:r>
              <a:t>(inherited by all scenarios)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46120"/>
            <a:ext cx="3840480" cy="777240"/>
          </a:xfrm>
          <a:prstGeom prst="roundRect">
            <a:avLst>
              <a:gd name="adj" fmla="val 10000"/>
            </a:avLst>
          </a:prstGeom>
          <a:solidFill>
            <a:srgbClr val="1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E5C07B"/>
                </a:solidFill>
                <a:latin typeface="Consolas"/>
              </a:defRPr>
            </a:pPr>
            <a:r>
              <a:t>@VM:...-VM-01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CF0F1"/>
                </a:solidFill>
                <a:latin typeface="Calibri"/>
              </a:defRPr>
            </a:pPr>
            <a:r>
              <a:t>Links to specific VM</a:t>
            </a:r>
            <a:br/>
            <a:r>
              <a:t>Placed at Scenario level</a:t>
            </a:r>
            <a:br/>
            <a:r>
              <a:t>(each scenario tests one VM)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114800"/>
            <a:ext cx="3840480" cy="777240"/>
          </a:xfrm>
          <a:prstGeom prst="roundRect">
            <a:avLst>
              <a:gd name="adj" fmla="val 10000"/>
            </a:avLst>
          </a:prstGeom>
          <a:solidFill>
            <a:srgbClr val="1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98C379"/>
                </a:solidFill>
                <a:latin typeface="Consolas"/>
              </a:defRPr>
            </a:pPr>
            <a:r>
              <a:t>@VER:Test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CF0F1"/>
                </a:solidFill>
                <a:latin typeface="Calibri"/>
              </a:defRPr>
            </a:pPr>
            <a:r>
              <a:t>Verification method type</a:t>
            </a:r>
            <a:br/>
            <a:r>
              <a:t>Informational only</a:t>
            </a:r>
            <a:br/>
            <a:r>
              <a:t>(ADIT classification)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983480"/>
            <a:ext cx="3840480" cy="777240"/>
          </a:xfrm>
          <a:prstGeom prst="roundRect">
            <a:avLst>
              <a:gd name="adj" fmla="val 10000"/>
            </a:avLst>
          </a:prstGeom>
          <a:solidFill>
            <a:srgbClr val="1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5029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E06C75"/>
                </a:solidFill>
                <a:latin typeface="Consolas"/>
              </a:defRPr>
            </a:pPr>
            <a:r>
              <a:t>@REVIEW_REQUIRED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303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CF0F1"/>
                </a:solidFill>
                <a:latin typeface="Calibri"/>
              </a:defRPr>
            </a:pPr>
            <a:r>
              <a:t>Injected by Gate B</a:t>
            </a:r>
            <a:br/>
            <a:r>
              <a:t>when criteria text drifts</a:t>
            </a:r>
            <a:br/>
            <a:r>
              <a:t>(must be resolved to pass)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852160"/>
            <a:ext cx="3840480" cy="777240"/>
          </a:xfrm>
          <a:prstGeom prst="roundRect">
            <a:avLst>
              <a:gd name="adj" fmla="val 10000"/>
            </a:avLst>
          </a:prstGeom>
          <a:solidFill>
            <a:srgbClr val="1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897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546E7A"/>
                </a:solidFill>
                <a:latin typeface="Consolas"/>
              </a:defRPr>
            </a:pPr>
            <a:r>
              <a:t>@STUB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172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ECF0F1"/>
                </a:solidFill>
                <a:latin typeface="Calibri"/>
              </a:defRPr>
            </a:pPr>
            <a:r>
              <a:t>Auto-generated placeholder</a:t>
            </a:r>
            <a:br/>
            <a:r>
              <a:t>Replaced by real scenario</a:t>
            </a:r>
            <a:br/>
            <a:r>
              <a:t>when SE + Dev collaborate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45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8771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2336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40683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05275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22595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87187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29" name="Oval 28"/>
          <p:cNvSpPr/>
          <p:nvPr/>
        </p:nvSpPr>
        <p:spPr>
          <a:xfrm>
            <a:off x="6036411" y="-73152"/>
            <a:ext cx="118872" cy="11887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04507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69099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6419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5101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8331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13292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0D1B2A"/>
                </a:solidFill>
                <a:latin typeface="Calibri"/>
              </a:defRPr>
            </a:pPr>
            <a:r>
              <a:t>CI/CD Pipeline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69B0"/>
                </a:solidFill>
                <a:latin typeface="Calibri"/>
              </a:defRPr>
            </a:pPr>
            <a:r>
              <a:t>Repo 1: Model Pipeline (on every push)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Validate</a:t>
            </a:r>
            <a:br/>
            <a:r>
              <a:t>Exports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2103120"/>
            <a:ext cx="2286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3160" y="1828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Schema</a:t>
            </a:r>
            <a:br/>
            <a:r>
              <a:t>Check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60520" y="2103120"/>
            <a:ext cx="2286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  <a:br/>
            <a:r>
              <a:t>Protos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26480" y="2103120"/>
            <a:ext cx="2286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Package</a:t>
            </a:r>
            <a:br/>
            <a:r>
              <a:t>Artifact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92440" y="2103120"/>
            <a:ext cx="2286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Tag &amp;</a:t>
            </a:r>
            <a:br/>
            <a:r>
              <a:t>Release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69280" y="2834640"/>
            <a:ext cx="457200" cy="640080"/>
          </a:xfrm>
          <a:prstGeom prst="downArrow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D1B2A"/>
                </a:solidFill>
                <a:latin typeface="Calibri"/>
              </a:defRPr>
            </a:pPr>
            <a:r>
              <a:t>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0099D6"/>
                </a:solidFill>
                <a:latin typeface="Calibri"/>
              </a:defRPr>
            </a:pPr>
            <a:r>
              <a:t>Repo 2: Product Pipeline (on every push)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Traceability</a:t>
            </a:r>
            <a:br/>
            <a:r>
              <a:t>Check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194560" y="4389120"/>
            <a:ext cx="2286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23160" y="4114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Gate A</a:t>
            </a:r>
            <a:br/>
            <a:r>
              <a:t>Coverage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160520" y="4389120"/>
            <a:ext cx="2286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4114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Gate B</a:t>
            </a:r>
            <a:br/>
            <a:r>
              <a:t>Drift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26480" y="4389120"/>
            <a:ext cx="2286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4114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Gate C</a:t>
            </a:r>
            <a:br/>
            <a:r>
              <a:t>Orphans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92440" y="4389120"/>
            <a:ext cx="2286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4114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BDD Test</a:t>
            </a:r>
            <a:br/>
            <a:r>
              <a:t>Execution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58400" y="4389120"/>
            <a:ext cx="22860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87000" y="4114800"/>
            <a:ext cx="1737360" cy="822960"/>
          </a:xfrm>
          <a:prstGeom prst="roundRect">
            <a:avLst>
              <a:gd name="adj" fmla="val 10000"/>
            </a:avLst>
          </a:prstGeom>
          <a:solidFill>
            <a:srgbClr val="0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Final</a:t>
            </a:r>
            <a:br/>
            <a:r>
              <a:t>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45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877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22336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40683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805275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2595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87187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04507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969099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46" name="Oval 45"/>
          <p:cNvSpPr/>
          <p:nvPr/>
        </p:nvSpPr>
        <p:spPr>
          <a:xfrm>
            <a:off x="7618323" y="-73152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86419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5101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6833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13292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400" name="Label 400"/>
          <p:cNvSpPr txBox="1"/>
          <p:nvPr/>
        </p:nvSpPr>
        <p:spPr>
          <a:xfrm>
            <a:off x="457200" y="5520000"/>
            <a:ext cx="112772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069B0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01" name="Badge 401"/>
          <p:cNvSpPr/>
          <p:nvPr/>
        </p:nvSpPr>
        <p:spPr>
          <a:xfrm>
            <a:off x="457200" y="5900000"/>
            <a:ext cx="1480000" cy="410000"/>
          </a:xfrm>
          <a:prstGeom prst="roundRect">
            <a:avLst>
              <a:gd name="adj" fmla="val 15000"/>
            </a:avLst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402" name="Badge 402"/>
          <p:cNvSpPr/>
          <p:nvPr/>
        </p:nvSpPr>
        <p:spPr>
          <a:xfrm>
            <a:off x="2090082" y="5900000"/>
            <a:ext cx="1480000" cy="410000"/>
          </a:xfrm>
          <a:prstGeom prst="roundRect">
            <a:avLst>
              <a:gd name="adj" fmla="val 15000"/>
            </a:avLst>
          </a:prstGeom>
          <a:solidFill>
            <a:srgbClr val="0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JSON Schema</a:t>
            </a:r>
          </a:p>
        </p:txBody>
      </p:sp>
      <p:sp>
        <p:nvSpPr>
          <p:cNvPr id="403" name="Badge 403"/>
          <p:cNvSpPr/>
          <p:nvPr/>
        </p:nvSpPr>
        <p:spPr>
          <a:xfrm>
            <a:off x="3722964" y="5900000"/>
            <a:ext cx="1480000" cy="410000"/>
          </a:xfrm>
          <a:prstGeom prst="roundRect">
            <a:avLst>
              <a:gd name="adj" fmla="val 15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404" name="Badge 404"/>
          <p:cNvSpPr/>
          <p:nvPr/>
        </p:nvSpPr>
        <p:spPr>
          <a:xfrm>
            <a:off x="5355846" y="5900000"/>
            <a:ext cx="1480000" cy="410000"/>
          </a:xfrm>
          <a:prstGeom prst="roundRect">
            <a:avLst>
              <a:gd name="adj" fmla="val 15000"/>
            </a:avLst>
          </a:prstGeom>
          <a:solidFill>
            <a:srgbClr val="0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Behave</a:t>
            </a:r>
          </a:p>
        </p:txBody>
      </p:sp>
      <p:sp>
        <p:nvSpPr>
          <p:cNvPr id="405" name="Badge 405"/>
          <p:cNvSpPr/>
          <p:nvPr/>
        </p:nvSpPr>
        <p:spPr>
          <a:xfrm>
            <a:off x="6988728" y="5900000"/>
            <a:ext cx="1480000" cy="410000"/>
          </a:xfrm>
          <a:prstGeom prst="roundRect">
            <a:avLst>
              <a:gd name="adj" fmla="val 15000"/>
            </a:avLst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Gherkin</a:t>
            </a:r>
          </a:p>
        </p:txBody>
      </p:sp>
      <p:sp>
        <p:nvSpPr>
          <p:cNvPr id="406" name="Badge 406"/>
          <p:cNvSpPr/>
          <p:nvPr/>
        </p:nvSpPr>
        <p:spPr>
          <a:xfrm>
            <a:off x="8621610" y="5900000"/>
            <a:ext cx="1480000" cy="410000"/>
          </a:xfrm>
          <a:prstGeom prst="roundRect">
            <a:avLst>
              <a:gd name="adj" fmla="val 15000"/>
            </a:avLst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Helm</a:t>
            </a:r>
          </a:p>
        </p:txBody>
      </p:sp>
      <p:sp>
        <p:nvSpPr>
          <p:cNvPr id="407" name="Badge 407"/>
          <p:cNvSpPr/>
          <p:nvPr/>
        </p:nvSpPr>
        <p:spPr>
          <a:xfrm>
            <a:off x="10254492" y="5900000"/>
            <a:ext cx="1480000" cy="410000"/>
          </a:xfrm>
          <a:prstGeom prst="roundRect">
            <a:avLst>
              <a:gd name="adj" fmla="val 15000"/>
            </a:avLst>
          </a:prstGeom>
          <a:solidFill>
            <a:srgbClr val="0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0D1B2A"/>
                </a:solidFill>
                <a:latin typeface="Calibri"/>
              </a:defRPr>
            </a:pPr>
            <a:r>
              <a:t>Traceability &amp; Audit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546E7A"/>
                </a:solidFill>
                <a:latin typeface="Calibri"/>
              </a:defRPr>
            </a:pPr>
            <a:r>
              <a:t>Every pipeline run produces a complete, machine-generated evidence chain — no manual assembly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031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Requirement</a:t>
            </a:r>
            <a:br/>
            <a:r>
              <a:t>in Cameo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2377440"/>
            <a:ext cx="32004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06040" y="21031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Verification</a:t>
            </a:r>
            <a:br/>
            <a:r>
              <a:t>Method (VM)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17720" y="2377440"/>
            <a:ext cx="32004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21031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Gherkin</a:t>
            </a:r>
            <a:br/>
            <a:r>
              <a:t>Scenario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49440" y="2377440"/>
            <a:ext cx="32004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21031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BDD Test</a:t>
            </a:r>
            <a:br/>
            <a:r>
              <a:t>Result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81160" y="2377440"/>
            <a:ext cx="320040" cy="274320"/>
          </a:xfrm>
          <a:prstGeom prst="rightArrow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21031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Traceability</a:t>
            </a:r>
            <a:br/>
            <a:r>
              <a:t>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0D1B2A"/>
                </a:solidFill>
                <a:latin typeface="Calibri"/>
              </a:defRPr>
            </a:pPr>
            <a:r>
              <a:t>What This Means for Compliance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03980"/>
            <a:ext cx="137160" cy="137160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Minutes, Not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Traceability matrix is generated on every commit — always current, always complete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903980"/>
            <a:ext cx="137160" cy="137160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Every Change Tracked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Git history + baseline diffs show exactly when requirements changed and who acknowledged them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589780"/>
            <a:ext cx="137160" cy="137160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26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No Missing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00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Gate A ensures every verification method has coverage — gaps are caught before merge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4589780"/>
            <a:ext cx="137160" cy="137160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526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No Stale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800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Gate B detects criteria drift — existing tests are flagged for re-review when requirements change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275580"/>
            <a:ext cx="137160" cy="137160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12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No Ghost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86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Gate C catches orphaned tests — scenarios for deleted requirements are flagged for removal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5275580"/>
            <a:ext cx="137160" cy="137160"/>
          </a:xfrm>
          <a:prstGeom prst="ellipse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212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03057"/>
                </a:solidFill>
                <a:latin typeface="Calibri"/>
              </a:defRPr>
            </a:pPr>
            <a:r>
              <a:t>Immutable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86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CI artifacts (JSON + HTML reports) are stored per build — reproducible audit trail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45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5877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22336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40683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805275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22595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387187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04507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69099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6419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55101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44" name="Oval 43"/>
          <p:cNvSpPr/>
          <p:nvPr/>
        </p:nvSpPr>
        <p:spPr>
          <a:xfrm>
            <a:off x="9200235" y="-73152"/>
            <a:ext cx="118872" cy="118872"/>
          </a:xfrm>
          <a:prstGeom prst="ellipse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68331" y="257048"/>
            <a:ext cx="164592" cy="2540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13292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546E7A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2" name="TechGr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108960" cy="2560320"/>
          </a:xfrm>
          <a:prstGeom prst="roundRect">
            <a:avLst>
              <a:gd name="adj" fmla="val 5000"/>
            </a:avLst>
          </a:prstGeom>
          <a:solidFill>
            <a:srgbClr val="152540"/>
          </a:solidFill>
          <a:ln w="25400">
            <a:solidFill>
              <a:srgbClr val="009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0099D6"/>
                </a:solidFill>
                <a:latin typeface="Calibri"/>
              </a:defRPr>
            </a:pPr>
            <a:r>
              <a:t>Reduce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834640"/>
            <a:ext cx="1645920" cy="25400"/>
          </a:xfrm>
          <a:prstGeom prst="rect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Every requirement is verified before</a:t>
            </a:r>
            <a:br/>
            <a:r>
              <a:t>deployment. No gaps, no surprises.</a:t>
            </a:r>
            <a:br/>
            <a:r>
              <a:t>Quality gates catch problems 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108960" cy="2560320"/>
          </a:xfrm>
          <a:prstGeom prst="roundRect">
            <a:avLst>
              <a:gd name="adj" fmla="val 5000"/>
            </a:avLst>
          </a:prstGeom>
          <a:solidFill>
            <a:srgbClr val="152540"/>
          </a:solidFill>
          <a:ln w="25400">
            <a:solidFill>
              <a:srgbClr val="00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0069B0"/>
                </a:solidFill>
                <a:latin typeface="Calibri"/>
              </a:defRPr>
            </a:pPr>
            <a:r>
              <a:t>Accelerate 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834640"/>
            <a:ext cx="1645920" cy="25400"/>
          </a:xfrm>
          <a:prstGeom prst="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Automated traceability eliminates</a:t>
            </a:r>
            <a:br/>
            <a:r>
              <a:t>weeks of manual evidence assembly.</a:t>
            </a:r>
            <a:br/>
            <a:r>
              <a:t>CI/CD runs on every commit.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108960" cy="2560320"/>
          </a:xfrm>
          <a:prstGeom prst="roundRect">
            <a:avLst>
              <a:gd name="adj" fmla="val 5000"/>
            </a:avLst>
          </a:prstGeom>
          <a:solidFill>
            <a:srgbClr val="152540"/>
          </a:solidFill>
          <a:ln w="25400">
            <a:solidFill>
              <a:srgbClr val="003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003F80"/>
                </a:solidFill>
                <a:latin typeface="Calibri"/>
              </a:defRPr>
            </a:pPr>
            <a:r>
              <a:t>Ensure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834640"/>
            <a:ext cx="1645920" cy="25400"/>
          </a:xfrm>
          <a:prstGeom prst="rect">
            <a:avLst/>
          </a:prstGeom>
          <a:solidFill>
            <a:srgbClr val="0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017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Machine-generated audit trail from</a:t>
            </a:r>
            <a:br/>
            <a:r>
              <a:t>model to deployment. Immutable,</a:t>
            </a:r>
            <a:br/>
            <a:r>
              <a:t>reproducible, always current.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One pipeline.  Model to deployment.  Full traceability.  Every commit.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0069B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8771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2336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40683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05275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22595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87187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Roles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04507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69099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86419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51011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0">
                <a:solidFill>
                  <a:srgbClr val="6C7A8D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8331" y="257048"/>
            <a:ext cx="164592" cy="2540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32923" y="109728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30" name="Oval 29"/>
          <p:cNvSpPr/>
          <p:nvPr/>
        </p:nvSpPr>
        <p:spPr>
          <a:xfrm>
            <a:off x="10782147" y="-73152"/>
            <a:ext cx="118872" cy="11887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